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Bricolage Grotesque Bold" charset="1" panose="020B0605040402000204"/>
      <p:regular r:id="rId20"/>
    </p:embeddedFont>
    <p:embeddedFont>
      <p:font typeface="Lucky Bones" charset="1" panose="00000800000000000000"/>
      <p:regular r:id="rId21"/>
    </p:embeddedFont>
    <p:embeddedFont>
      <p:font typeface="Arimo" charset="1" panose="020B0604020202020204"/>
      <p:regular r:id="rId22"/>
    </p:embeddedFont>
    <p:embeddedFont>
      <p:font typeface="Bricolage Grotesque" charset="1" panose="020B060504040200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9.png" Type="http://schemas.openxmlformats.org/officeDocument/2006/relationships/image"/><Relationship Id="rId13" Target="../embeddings/oleObject1.bin" Type="http://schemas.openxmlformats.org/officeDocument/2006/relationships/oleObjec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22.jpe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1348472"/>
            <a:ext cx="9569050" cy="8692535"/>
          </a:xfrm>
          <a:custGeom>
            <a:avLst/>
            <a:gdLst/>
            <a:ahLst/>
            <a:cxnLst/>
            <a:rect r="r" b="b" t="t" l="l"/>
            <a:pathLst>
              <a:path h="8692535" w="9569050">
                <a:moveTo>
                  <a:pt x="0" y="0"/>
                </a:moveTo>
                <a:lnTo>
                  <a:pt x="9569050" y="0"/>
                </a:lnTo>
                <a:lnTo>
                  <a:pt x="9569050" y="8692535"/>
                </a:lnTo>
                <a:lnTo>
                  <a:pt x="0" y="86925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69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949591" y="6119330"/>
            <a:ext cx="28154850" cy="6009992"/>
          </a:xfrm>
          <a:custGeom>
            <a:avLst/>
            <a:gdLst/>
            <a:ahLst/>
            <a:cxnLst/>
            <a:rect r="r" b="b" t="t" l="l"/>
            <a:pathLst>
              <a:path h="6009992" w="28154850">
                <a:moveTo>
                  <a:pt x="0" y="0"/>
                </a:moveTo>
                <a:lnTo>
                  <a:pt x="28154850" y="0"/>
                </a:lnTo>
                <a:lnTo>
                  <a:pt x="28154850" y="6009992"/>
                </a:lnTo>
                <a:lnTo>
                  <a:pt x="0" y="60099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14019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56421" y="1200774"/>
            <a:ext cx="10093379" cy="7885453"/>
          </a:xfrm>
          <a:custGeom>
            <a:avLst/>
            <a:gdLst/>
            <a:ahLst/>
            <a:cxnLst/>
            <a:rect r="r" b="b" t="t" l="l"/>
            <a:pathLst>
              <a:path h="7885453" w="10093379">
                <a:moveTo>
                  <a:pt x="0" y="0"/>
                </a:moveTo>
                <a:lnTo>
                  <a:pt x="10093379" y="0"/>
                </a:lnTo>
                <a:lnTo>
                  <a:pt x="10093379" y="7885452"/>
                </a:lnTo>
                <a:lnTo>
                  <a:pt x="0" y="7885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269105">
            <a:off x="11284191" y="4673557"/>
            <a:ext cx="4367318" cy="1035136"/>
            <a:chOff x="0" y="0"/>
            <a:chExt cx="1150240" cy="2726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50240" cy="272628"/>
            </a:xfrm>
            <a:custGeom>
              <a:avLst/>
              <a:gdLst/>
              <a:ahLst/>
              <a:cxnLst/>
              <a:rect r="r" b="b" t="t" l="l"/>
              <a:pathLst>
                <a:path h="272628" w="1150240">
                  <a:moveTo>
                    <a:pt x="90407" y="0"/>
                  </a:moveTo>
                  <a:lnTo>
                    <a:pt x="1059833" y="0"/>
                  </a:lnTo>
                  <a:cubicBezTo>
                    <a:pt x="1109763" y="0"/>
                    <a:pt x="1150240" y="40477"/>
                    <a:pt x="1150240" y="90407"/>
                  </a:cubicBezTo>
                  <a:lnTo>
                    <a:pt x="1150240" y="182221"/>
                  </a:lnTo>
                  <a:cubicBezTo>
                    <a:pt x="1150240" y="232152"/>
                    <a:pt x="1109763" y="272628"/>
                    <a:pt x="1059833" y="272628"/>
                  </a:cubicBezTo>
                  <a:lnTo>
                    <a:pt x="90407" y="272628"/>
                  </a:lnTo>
                  <a:cubicBezTo>
                    <a:pt x="40477" y="272628"/>
                    <a:pt x="0" y="232152"/>
                    <a:pt x="0" y="182221"/>
                  </a:cubicBezTo>
                  <a:lnTo>
                    <a:pt x="0" y="90407"/>
                  </a:lnTo>
                  <a:cubicBezTo>
                    <a:pt x="0" y="40477"/>
                    <a:pt x="40477" y="0"/>
                    <a:pt x="90407" y="0"/>
                  </a:cubicBezTo>
                  <a:close/>
                </a:path>
              </a:pathLst>
            </a:custGeom>
            <a:solidFill>
              <a:srgbClr val="F9F1E2"/>
            </a:solidFill>
            <a:ln w="47625" cap="rnd">
              <a:solidFill>
                <a:srgbClr val="59503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50240" cy="310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-1348472"/>
            <a:ext cx="7416778" cy="4396127"/>
          </a:xfrm>
          <a:custGeom>
            <a:avLst/>
            <a:gdLst/>
            <a:ahLst/>
            <a:cxnLst/>
            <a:rect r="r" b="b" t="t" l="l"/>
            <a:pathLst>
              <a:path h="4396127" w="7416778">
                <a:moveTo>
                  <a:pt x="0" y="0"/>
                </a:moveTo>
                <a:lnTo>
                  <a:pt x="7416778" y="0"/>
                </a:lnTo>
                <a:lnTo>
                  <a:pt x="7416778" y="4396127"/>
                </a:lnTo>
                <a:lnTo>
                  <a:pt x="0" y="43961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66540" y="6603194"/>
            <a:ext cx="5489881" cy="2655106"/>
          </a:xfrm>
          <a:custGeom>
            <a:avLst/>
            <a:gdLst/>
            <a:ahLst/>
            <a:cxnLst/>
            <a:rect r="r" b="b" t="t" l="l"/>
            <a:pathLst>
              <a:path h="2655106" w="5489881">
                <a:moveTo>
                  <a:pt x="0" y="0"/>
                </a:moveTo>
                <a:lnTo>
                  <a:pt x="5489881" y="0"/>
                </a:lnTo>
                <a:lnTo>
                  <a:pt x="5489881" y="2655106"/>
                </a:lnTo>
                <a:lnTo>
                  <a:pt x="0" y="26551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038287" y="1200774"/>
            <a:ext cx="4403538" cy="6226082"/>
          </a:xfrm>
          <a:custGeom>
            <a:avLst/>
            <a:gdLst/>
            <a:ahLst/>
            <a:cxnLst/>
            <a:rect r="r" b="b" t="t" l="l"/>
            <a:pathLst>
              <a:path h="6226082" w="4403538">
                <a:moveTo>
                  <a:pt x="0" y="0"/>
                </a:moveTo>
                <a:lnTo>
                  <a:pt x="4403538" y="0"/>
                </a:lnTo>
                <a:lnTo>
                  <a:pt x="4403538" y="6226081"/>
                </a:lnTo>
                <a:lnTo>
                  <a:pt x="0" y="62260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255504">
            <a:off x="11587128" y="4685291"/>
            <a:ext cx="3773091" cy="944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5950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Enhancing collaboration and organization in online learning environments</a:t>
            </a:r>
          </a:p>
        </p:txBody>
      </p:sp>
      <p:sp>
        <p:nvSpPr>
          <p:cNvPr name="TextBox 12" id="12"/>
          <p:cNvSpPr txBox="true"/>
          <p:nvPr/>
        </p:nvSpPr>
        <p:spPr>
          <a:xfrm rot="312795">
            <a:off x="11021923" y="1659197"/>
            <a:ext cx="5814071" cy="3602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07"/>
              </a:lnSpc>
            </a:pPr>
            <a:r>
              <a:rPr lang="en-US" sz="6039" spc="332">
                <a:solidFill>
                  <a:srgbClr val="F9F1E2"/>
                </a:solidFill>
                <a:latin typeface="Lucky Bones"/>
                <a:ea typeface="Lucky Bones"/>
                <a:cs typeface="Lucky Bones"/>
                <a:sym typeface="Lucky Bones"/>
              </a:rPr>
              <a:t>CL</a:t>
            </a:r>
            <a:r>
              <a:rPr lang="en-US" sz="6039" spc="332">
                <a:solidFill>
                  <a:srgbClr val="F9F1E2"/>
                </a:solidFill>
                <a:latin typeface="Lucky Bones"/>
                <a:ea typeface="Lucky Bones"/>
                <a:cs typeface="Lucky Bones"/>
                <a:sym typeface="Lucky Bones"/>
              </a:rPr>
              <a:t>OUD-BASED </a:t>
            </a:r>
          </a:p>
          <a:p>
            <a:pPr algn="ctr">
              <a:lnSpc>
                <a:spcPts val="7307"/>
              </a:lnSpc>
            </a:pPr>
            <a:r>
              <a:rPr lang="en-US" sz="6039" spc="332">
                <a:solidFill>
                  <a:srgbClr val="F9F1E2"/>
                </a:solidFill>
                <a:latin typeface="Lucky Bones"/>
                <a:ea typeface="Lucky Bones"/>
                <a:cs typeface="Lucky Bones"/>
                <a:sym typeface="Lucky Bones"/>
              </a:rPr>
              <a:t>NOTE SHARING PLATFORM</a:t>
            </a:r>
          </a:p>
          <a:p>
            <a:pPr algn="ctr">
              <a:lnSpc>
                <a:spcPts val="6447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535991" y="3150377"/>
            <a:ext cx="5080227" cy="279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8"/>
              </a:lnSpc>
            </a:pPr>
            <a:r>
              <a:rPr lang="en-US" sz="265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Guide name: Prof. Manoj Patil</a:t>
            </a:r>
          </a:p>
          <a:p>
            <a:pPr algn="l">
              <a:lnSpc>
                <a:spcPts val="3718"/>
              </a:lnSpc>
            </a:pPr>
          </a:p>
          <a:p>
            <a:pPr algn="l">
              <a:lnSpc>
                <a:spcPts val="3718"/>
              </a:lnSpc>
              <a:spcBef>
                <a:spcPct val="0"/>
              </a:spcBef>
            </a:pPr>
            <a:r>
              <a:rPr lang="en-US" sz="265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Gr</a:t>
            </a:r>
            <a:r>
              <a:rPr lang="en-US" sz="265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oup members:</a:t>
            </a:r>
          </a:p>
          <a:p>
            <a:pPr algn="l">
              <a:lnSpc>
                <a:spcPts val="3718"/>
              </a:lnSpc>
              <a:spcBef>
                <a:spcPct val="0"/>
              </a:spcBef>
            </a:pPr>
            <a:r>
              <a:rPr lang="en-US" sz="265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1. Atharva Kolhe</a:t>
            </a:r>
          </a:p>
          <a:p>
            <a:pPr algn="l">
              <a:lnSpc>
                <a:spcPts val="3718"/>
              </a:lnSpc>
              <a:spcBef>
                <a:spcPct val="0"/>
              </a:spcBef>
            </a:pPr>
            <a:r>
              <a:rPr lang="en-US" sz="265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2. Rutuja Kerkar</a:t>
            </a:r>
          </a:p>
          <a:p>
            <a:pPr algn="l">
              <a:lnSpc>
                <a:spcPts val="3718"/>
              </a:lnSpc>
              <a:spcBef>
                <a:spcPct val="0"/>
              </a:spcBef>
            </a:pPr>
            <a:r>
              <a:rPr lang="en-US" sz="265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3. Abinaya Kaunder</a:t>
            </a:r>
          </a:p>
          <a:p>
            <a:pPr algn="l">
              <a:lnSpc>
                <a:spcPts val="371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-647188"/>
            <a:ext cx="8933312" cy="5295017"/>
          </a:xfrm>
          <a:custGeom>
            <a:avLst/>
            <a:gdLst/>
            <a:ahLst/>
            <a:cxnLst/>
            <a:rect r="r" b="b" t="t" l="l"/>
            <a:pathLst>
              <a:path h="5295017" w="8933312">
                <a:moveTo>
                  <a:pt x="0" y="0"/>
                </a:moveTo>
                <a:lnTo>
                  <a:pt x="8933312" y="0"/>
                </a:lnTo>
                <a:lnTo>
                  <a:pt x="8933312" y="5295017"/>
                </a:lnTo>
                <a:lnTo>
                  <a:pt x="0" y="5295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1108435" y="-1685289"/>
            <a:ext cx="8062997" cy="6333118"/>
          </a:xfrm>
          <a:custGeom>
            <a:avLst/>
            <a:gdLst/>
            <a:ahLst/>
            <a:cxnLst/>
            <a:rect r="r" b="b" t="t" l="l"/>
            <a:pathLst>
              <a:path h="6333118" w="8062997">
                <a:moveTo>
                  <a:pt x="8062997" y="0"/>
                </a:moveTo>
                <a:lnTo>
                  <a:pt x="0" y="0"/>
                </a:lnTo>
                <a:lnTo>
                  <a:pt x="0" y="6333118"/>
                </a:lnTo>
                <a:lnTo>
                  <a:pt x="8062997" y="6333118"/>
                </a:lnTo>
                <a:lnTo>
                  <a:pt x="806299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01063" y="9760651"/>
            <a:ext cx="27126150" cy="1947309"/>
          </a:xfrm>
          <a:custGeom>
            <a:avLst/>
            <a:gdLst/>
            <a:ahLst/>
            <a:cxnLst/>
            <a:rect r="r" b="b" t="t" l="l"/>
            <a:pathLst>
              <a:path h="1947309" w="27126150">
                <a:moveTo>
                  <a:pt x="0" y="0"/>
                </a:moveTo>
                <a:lnTo>
                  <a:pt x="27126149" y="0"/>
                </a:lnTo>
                <a:lnTo>
                  <a:pt x="27126149" y="1947309"/>
                </a:lnTo>
                <a:lnTo>
                  <a:pt x="0" y="19473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61423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49272" y="0"/>
            <a:ext cx="13443378" cy="11707960"/>
          </a:xfrm>
          <a:custGeom>
            <a:avLst/>
            <a:gdLst/>
            <a:ahLst/>
            <a:cxnLst/>
            <a:rect r="r" b="b" t="t" l="l"/>
            <a:pathLst>
              <a:path h="11707960" w="13443378">
                <a:moveTo>
                  <a:pt x="0" y="0"/>
                </a:moveTo>
                <a:lnTo>
                  <a:pt x="13443378" y="0"/>
                </a:lnTo>
                <a:lnTo>
                  <a:pt x="13443378" y="11707960"/>
                </a:lnTo>
                <a:lnTo>
                  <a:pt x="0" y="117079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993211" y="1187996"/>
            <a:ext cx="11710224" cy="6681278"/>
            <a:chOff x="0" y="0"/>
            <a:chExt cx="3084174" cy="17596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4174" cy="1759678"/>
            </a:xfrm>
            <a:custGeom>
              <a:avLst/>
              <a:gdLst/>
              <a:ahLst/>
              <a:cxnLst/>
              <a:rect r="r" b="b" t="t" l="l"/>
              <a:pathLst>
                <a:path h="1759678" w="3084174">
                  <a:moveTo>
                    <a:pt x="0" y="0"/>
                  </a:moveTo>
                  <a:lnTo>
                    <a:pt x="3084174" y="0"/>
                  </a:lnTo>
                  <a:lnTo>
                    <a:pt x="3084174" y="1759678"/>
                  </a:lnTo>
                  <a:lnTo>
                    <a:pt x="0" y="1759678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084174" cy="1816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38200" y="4783174"/>
            <a:ext cx="4365429" cy="6172200"/>
          </a:xfrm>
          <a:custGeom>
            <a:avLst/>
            <a:gdLst/>
            <a:ahLst/>
            <a:cxnLst/>
            <a:rect r="r" b="b" t="t" l="l"/>
            <a:pathLst>
              <a:path h="6172200" w="4365429">
                <a:moveTo>
                  <a:pt x="0" y="0"/>
                </a:moveTo>
                <a:lnTo>
                  <a:pt x="4365429" y="0"/>
                </a:lnTo>
                <a:lnTo>
                  <a:pt x="4365429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644859" y="3273360"/>
            <a:ext cx="4788448" cy="1071056"/>
            <a:chOff x="0" y="0"/>
            <a:chExt cx="1261155" cy="2820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61155" cy="282089"/>
            </a:xfrm>
            <a:custGeom>
              <a:avLst/>
              <a:gdLst/>
              <a:ahLst/>
              <a:cxnLst/>
              <a:rect r="r" b="b" t="t" l="l"/>
              <a:pathLst>
                <a:path h="282089" w="1261155">
                  <a:moveTo>
                    <a:pt x="19401" y="0"/>
                  </a:moveTo>
                  <a:lnTo>
                    <a:pt x="1241753" y="0"/>
                  </a:lnTo>
                  <a:cubicBezTo>
                    <a:pt x="1246899" y="0"/>
                    <a:pt x="1251834" y="2044"/>
                    <a:pt x="1255472" y="5683"/>
                  </a:cubicBezTo>
                  <a:cubicBezTo>
                    <a:pt x="1259111" y="9321"/>
                    <a:pt x="1261155" y="14256"/>
                    <a:pt x="1261155" y="19401"/>
                  </a:cubicBezTo>
                  <a:lnTo>
                    <a:pt x="1261155" y="262687"/>
                  </a:lnTo>
                  <a:cubicBezTo>
                    <a:pt x="1261155" y="267833"/>
                    <a:pt x="1259111" y="272768"/>
                    <a:pt x="1255472" y="276406"/>
                  </a:cubicBezTo>
                  <a:cubicBezTo>
                    <a:pt x="1251834" y="280045"/>
                    <a:pt x="1246899" y="282089"/>
                    <a:pt x="1241753" y="282089"/>
                  </a:cubicBezTo>
                  <a:lnTo>
                    <a:pt x="19401" y="282089"/>
                  </a:lnTo>
                  <a:cubicBezTo>
                    <a:pt x="14256" y="282089"/>
                    <a:pt x="9321" y="280045"/>
                    <a:pt x="5683" y="276406"/>
                  </a:cubicBezTo>
                  <a:cubicBezTo>
                    <a:pt x="2044" y="272768"/>
                    <a:pt x="0" y="267833"/>
                    <a:pt x="0" y="262687"/>
                  </a:cubicBezTo>
                  <a:lnTo>
                    <a:pt x="0" y="19401"/>
                  </a:lnTo>
                  <a:cubicBezTo>
                    <a:pt x="0" y="14256"/>
                    <a:pt x="2044" y="9321"/>
                    <a:pt x="5683" y="5683"/>
                  </a:cubicBezTo>
                  <a:cubicBezTo>
                    <a:pt x="9321" y="2044"/>
                    <a:pt x="14256" y="0"/>
                    <a:pt x="19401" y="0"/>
                  </a:cubicBezTo>
                  <a:close/>
                </a:path>
              </a:pathLst>
            </a:custGeom>
            <a:solidFill>
              <a:srgbClr val="DBCBB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61155" cy="3201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618522" y="1465150"/>
            <a:ext cx="10979825" cy="153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Identifying Challenges in Academic Materials </a:t>
            </a:r>
          </a:p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Management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618522" y="4647829"/>
            <a:ext cx="4814784" cy="1206151"/>
            <a:chOff x="0" y="0"/>
            <a:chExt cx="1268091" cy="3176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68091" cy="317669"/>
            </a:xfrm>
            <a:custGeom>
              <a:avLst/>
              <a:gdLst/>
              <a:ahLst/>
              <a:cxnLst/>
              <a:rect r="r" b="b" t="t" l="l"/>
              <a:pathLst>
                <a:path h="317669" w="1268091">
                  <a:moveTo>
                    <a:pt x="16079" y="0"/>
                  </a:moveTo>
                  <a:lnTo>
                    <a:pt x="1252012" y="0"/>
                  </a:lnTo>
                  <a:cubicBezTo>
                    <a:pt x="1256276" y="0"/>
                    <a:pt x="1260366" y="1694"/>
                    <a:pt x="1263382" y="4710"/>
                  </a:cubicBezTo>
                  <a:cubicBezTo>
                    <a:pt x="1266397" y="7725"/>
                    <a:pt x="1268091" y="11815"/>
                    <a:pt x="1268091" y="16079"/>
                  </a:cubicBezTo>
                  <a:lnTo>
                    <a:pt x="1268091" y="301590"/>
                  </a:lnTo>
                  <a:cubicBezTo>
                    <a:pt x="1268091" y="305854"/>
                    <a:pt x="1266397" y="309944"/>
                    <a:pt x="1263382" y="312960"/>
                  </a:cubicBezTo>
                  <a:cubicBezTo>
                    <a:pt x="1260366" y="315975"/>
                    <a:pt x="1256276" y="317669"/>
                    <a:pt x="1252012" y="317669"/>
                  </a:cubicBezTo>
                  <a:lnTo>
                    <a:pt x="16079" y="317669"/>
                  </a:lnTo>
                  <a:cubicBezTo>
                    <a:pt x="11815" y="317669"/>
                    <a:pt x="7725" y="315975"/>
                    <a:pt x="4710" y="312960"/>
                  </a:cubicBezTo>
                  <a:cubicBezTo>
                    <a:pt x="1694" y="309944"/>
                    <a:pt x="0" y="305854"/>
                    <a:pt x="0" y="301590"/>
                  </a:cubicBezTo>
                  <a:lnTo>
                    <a:pt x="0" y="16079"/>
                  </a:lnTo>
                  <a:cubicBezTo>
                    <a:pt x="0" y="11815"/>
                    <a:pt x="1694" y="7725"/>
                    <a:pt x="4710" y="4710"/>
                  </a:cubicBezTo>
                  <a:cubicBezTo>
                    <a:pt x="7725" y="1694"/>
                    <a:pt x="11815" y="0"/>
                    <a:pt x="16079" y="0"/>
                  </a:cubicBezTo>
                  <a:close/>
                </a:path>
              </a:pathLst>
            </a:custGeom>
            <a:solidFill>
              <a:srgbClr val="DBCBB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68091" cy="355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023603" y="6187600"/>
            <a:ext cx="5189259" cy="1075235"/>
            <a:chOff x="0" y="0"/>
            <a:chExt cx="1366718" cy="28318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66718" cy="283189"/>
            </a:xfrm>
            <a:custGeom>
              <a:avLst/>
              <a:gdLst/>
              <a:ahLst/>
              <a:cxnLst/>
              <a:rect r="r" b="b" t="t" l="l"/>
              <a:pathLst>
                <a:path h="283189" w="1366718">
                  <a:moveTo>
                    <a:pt x="14919" y="0"/>
                  </a:moveTo>
                  <a:lnTo>
                    <a:pt x="1351799" y="0"/>
                  </a:lnTo>
                  <a:cubicBezTo>
                    <a:pt x="1360039" y="0"/>
                    <a:pt x="1366718" y="6680"/>
                    <a:pt x="1366718" y="14919"/>
                  </a:cubicBezTo>
                  <a:lnTo>
                    <a:pt x="1366718" y="268270"/>
                  </a:lnTo>
                  <a:cubicBezTo>
                    <a:pt x="1366718" y="276510"/>
                    <a:pt x="1360039" y="283189"/>
                    <a:pt x="1351799" y="283189"/>
                  </a:cubicBezTo>
                  <a:lnTo>
                    <a:pt x="14919" y="283189"/>
                  </a:lnTo>
                  <a:cubicBezTo>
                    <a:pt x="6680" y="283189"/>
                    <a:pt x="0" y="276510"/>
                    <a:pt x="0" y="268270"/>
                  </a:cubicBezTo>
                  <a:lnTo>
                    <a:pt x="0" y="14919"/>
                  </a:lnTo>
                  <a:cubicBezTo>
                    <a:pt x="0" y="6680"/>
                    <a:pt x="6680" y="0"/>
                    <a:pt x="14919" y="0"/>
                  </a:cubicBezTo>
                  <a:close/>
                </a:path>
              </a:pathLst>
            </a:custGeom>
            <a:solidFill>
              <a:srgbClr val="DBCBB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66718" cy="321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618522" y="6187600"/>
            <a:ext cx="4814784" cy="1075235"/>
            <a:chOff x="0" y="0"/>
            <a:chExt cx="1268091" cy="28318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8091" cy="283189"/>
            </a:xfrm>
            <a:custGeom>
              <a:avLst/>
              <a:gdLst/>
              <a:ahLst/>
              <a:cxnLst/>
              <a:rect r="r" b="b" t="t" l="l"/>
              <a:pathLst>
                <a:path h="283189" w="1268091">
                  <a:moveTo>
                    <a:pt x="16079" y="0"/>
                  </a:moveTo>
                  <a:lnTo>
                    <a:pt x="1252012" y="0"/>
                  </a:lnTo>
                  <a:cubicBezTo>
                    <a:pt x="1256276" y="0"/>
                    <a:pt x="1260366" y="1694"/>
                    <a:pt x="1263382" y="4710"/>
                  </a:cubicBezTo>
                  <a:cubicBezTo>
                    <a:pt x="1266397" y="7725"/>
                    <a:pt x="1268091" y="11815"/>
                    <a:pt x="1268091" y="16079"/>
                  </a:cubicBezTo>
                  <a:lnTo>
                    <a:pt x="1268091" y="267110"/>
                  </a:lnTo>
                  <a:cubicBezTo>
                    <a:pt x="1268091" y="271375"/>
                    <a:pt x="1266397" y="275464"/>
                    <a:pt x="1263382" y="278480"/>
                  </a:cubicBezTo>
                  <a:cubicBezTo>
                    <a:pt x="1260366" y="281495"/>
                    <a:pt x="1256276" y="283189"/>
                    <a:pt x="1252012" y="283189"/>
                  </a:cubicBezTo>
                  <a:lnTo>
                    <a:pt x="16079" y="283189"/>
                  </a:lnTo>
                  <a:cubicBezTo>
                    <a:pt x="11815" y="283189"/>
                    <a:pt x="7725" y="281495"/>
                    <a:pt x="4710" y="278480"/>
                  </a:cubicBezTo>
                  <a:cubicBezTo>
                    <a:pt x="1694" y="275464"/>
                    <a:pt x="0" y="271375"/>
                    <a:pt x="0" y="267110"/>
                  </a:cubicBezTo>
                  <a:lnTo>
                    <a:pt x="0" y="16079"/>
                  </a:lnTo>
                  <a:cubicBezTo>
                    <a:pt x="0" y="11815"/>
                    <a:pt x="1694" y="7725"/>
                    <a:pt x="4710" y="4710"/>
                  </a:cubicBezTo>
                  <a:cubicBezTo>
                    <a:pt x="7725" y="1694"/>
                    <a:pt x="11815" y="0"/>
                    <a:pt x="16079" y="0"/>
                  </a:cubicBezTo>
                  <a:close/>
                </a:path>
              </a:pathLst>
            </a:custGeom>
            <a:solidFill>
              <a:srgbClr val="DBCBB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268091" cy="321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023603" y="3273360"/>
            <a:ext cx="5189259" cy="1071056"/>
            <a:chOff x="0" y="0"/>
            <a:chExt cx="1366718" cy="28208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66718" cy="282089"/>
            </a:xfrm>
            <a:custGeom>
              <a:avLst/>
              <a:gdLst/>
              <a:ahLst/>
              <a:cxnLst/>
              <a:rect r="r" b="b" t="t" l="l"/>
              <a:pathLst>
                <a:path h="282089" w="1366718">
                  <a:moveTo>
                    <a:pt x="14919" y="0"/>
                  </a:moveTo>
                  <a:lnTo>
                    <a:pt x="1351799" y="0"/>
                  </a:lnTo>
                  <a:cubicBezTo>
                    <a:pt x="1360039" y="0"/>
                    <a:pt x="1366718" y="6680"/>
                    <a:pt x="1366718" y="14919"/>
                  </a:cubicBezTo>
                  <a:lnTo>
                    <a:pt x="1366718" y="267170"/>
                  </a:lnTo>
                  <a:cubicBezTo>
                    <a:pt x="1366718" y="275409"/>
                    <a:pt x="1360039" y="282089"/>
                    <a:pt x="1351799" y="282089"/>
                  </a:cubicBezTo>
                  <a:lnTo>
                    <a:pt x="14919" y="282089"/>
                  </a:lnTo>
                  <a:cubicBezTo>
                    <a:pt x="6680" y="282089"/>
                    <a:pt x="0" y="275409"/>
                    <a:pt x="0" y="267170"/>
                  </a:cubicBezTo>
                  <a:lnTo>
                    <a:pt x="0" y="14919"/>
                  </a:lnTo>
                  <a:cubicBezTo>
                    <a:pt x="0" y="6680"/>
                    <a:pt x="6680" y="0"/>
                    <a:pt x="14919" y="0"/>
                  </a:cubicBezTo>
                  <a:close/>
                </a:path>
              </a:pathLst>
            </a:custGeom>
            <a:solidFill>
              <a:srgbClr val="DBCBB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366718" cy="3201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023603" y="4647829"/>
            <a:ext cx="5189259" cy="1206151"/>
            <a:chOff x="0" y="0"/>
            <a:chExt cx="1366718" cy="31766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66718" cy="317669"/>
            </a:xfrm>
            <a:custGeom>
              <a:avLst/>
              <a:gdLst/>
              <a:ahLst/>
              <a:cxnLst/>
              <a:rect r="r" b="b" t="t" l="l"/>
              <a:pathLst>
                <a:path h="317669" w="1366718">
                  <a:moveTo>
                    <a:pt x="14919" y="0"/>
                  </a:moveTo>
                  <a:lnTo>
                    <a:pt x="1351799" y="0"/>
                  </a:lnTo>
                  <a:cubicBezTo>
                    <a:pt x="1360039" y="0"/>
                    <a:pt x="1366718" y="6680"/>
                    <a:pt x="1366718" y="14919"/>
                  </a:cubicBezTo>
                  <a:lnTo>
                    <a:pt x="1366718" y="302750"/>
                  </a:lnTo>
                  <a:cubicBezTo>
                    <a:pt x="1366718" y="310990"/>
                    <a:pt x="1360039" y="317669"/>
                    <a:pt x="1351799" y="317669"/>
                  </a:cubicBezTo>
                  <a:lnTo>
                    <a:pt x="14919" y="317669"/>
                  </a:lnTo>
                  <a:cubicBezTo>
                    <a:pt x="6680" y="317669"/>
                    <a:pt x="0" y="310990"/>
                    <a:pt x="0" y="302750"/>
                  </a:cubicBezTo>
                  <a:lnTo>
                    <a:pt x="0" y="14919"/>
                  </a:lnTo>
                  <a:cubicBezTo>
                    <a:pt x="0" y="6680"/>
                    <a:pt x="6680" y="0"/>
                    <a:pt x="14919" y="0"/>
                  </a:cubicBezTo>
                  <a:close/>
                </a:path>
              </a:pathLst>
            </a:custGeom>
            <a:solidFill>
              <a:srgbClr val="DBCBBB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366718" cy="355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5805852" y="3235260"/>
            <a:ext cx="4381150" cy="1126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5"/>
              </a:lnSpc>
              <a:spcBef>
                <a:spcPct val="0"/>
              </a:spcBef>
            </a:pPr>
            <a:r>
              <a:rPr lang="en-US" sz="2146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Un</a:t>
            </a:r>
            <a:r>
              <a:rPr lang="en-US" sz="2146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organised materials lead to frustration and lost time for students.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108197" y="3425760"/>
            <a:ext cx="4905851" cy="74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5"/>
              </a:lnSpc>
              <a:spcBef>
                <a:spcPct val="0"/>
              </a:spcBef>
            </a:pPr>
            <a:r>
              <a:rPr lang="en-US" sz="2146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Limited c</a:t>
            </a:r>
            <a:r>
              <a:rPr lang="en-US" sz="2146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ollaboration hampers</a:t>
            </a:r>
          </a:p>
          <a:p>
            <a:pPr algn="ctr">
              <a:lnSpc>
                <a:spcPts val="3005"/>
              </a:lnSpc>
              <a:spcBef>
                <a:spcPct val="0"/>
              </a:spcBef>
            </a:pPr>
            <a:r>
              <a:rPr lang="en-US" sz="2146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 effective study groups and peer support.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543113" y="4856256"/>
            <a:ext cx="4906627" cy="74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5"/>
              </a:lnSpc>
              <a:spcBef>
                <a:spcPct val="0"/>
              </a:spcBef>
            </a:pPr>
            <a:r>
              <a:rPr lang="en-US" sz="2146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Inefficient c</a:t>
            </a:r>
            <a:r>
              <a:rPr lang="en-US" sz="2146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ommunication affects timely</a:t>
            </a:r>
          </a:p>
          <a:p>
            <a:pPr algn="ctr">
              <a:lnSpc>
                <a:spcPts val="3005"/>
              </a:lnSpc>
              <a:spcBef>
                <a:spcPct val="0"/>
              </a:spcBef>
            </a:pPr>
            <a:r>
              <a:rPr lang="en-US" sz="2146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 updates about assignments and exams</a:t>
            </a:r>
            <a:r>
              <a:rPr lang="en-US" b="true" sz="2146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178741" y="4856256"/>
            <a:ext cx="4675704" cy="74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5"/>
              </a:lnSpc>
              <a:spcBef>
                <a:spcPct val="0"/>
              </a:spcBef>
            </a:pPr>
            <a:r>
              <a:rPr lang="en-US" sz="2146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Exam peri</a:t>
            </a:r>
            <a:r>
              <a:rPr lang="en-US" sz="2146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ods reveal a critical need for</a:t>
            </a:r>
          </a:p>
          <a:p>
            <a:pPr algn="ctr">
              <a:lnSpc>
                <a:spcPts val="3005"/>
              </a:lnSpc>
              <a:spcBef>
                <a:spcPct val="0"/>
              </a:spcBef>
            </a:pPr>
            <a:r>
              <a:rPr lang="en-US" sz="2146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 structured resources and accessibility.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805852" y="6300697"/>
            <a:ext cx="4381150" cy="74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2"/>
              </a:lnSpc>
              <a:spcBef>
                <a:spcPct val="0"/>
              </a:spcBef>
            </a:pPr>
            <a:r>
              <a:rPr lang="en-US" sz="2144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T</a:t>
            </a:r>
            <a:r>
              <a:rPr lang="en-US" sz="2144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o conduct secure online tests with MCQ and written answers.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628321" y="6300697"/>
            <a:ext cx="3865602" cy="74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5"/>
              </a:lnSpc>
              <a:spcBef>
                <a:spcPct val="0"/>
              </a:spcBef>
            </a:pPr>
            <a:r>
              <a:rPr lang="en-US" sz="2146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T</a:t>
            </a:r>
            <a:r>
              <a:rPr lang="en-US" sz="2146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o enable group chat for student</a:t>
            </a:r>
          </a:p>
          <a:p>
            <a:pPr algn="ctr">
              <a:lnSpc>
                <a:spcPts val="3005"/>
              </a:lnSpc>
              <a:spcBef>
                <a:spcPct val="0"/>
              </a:spcBef>
            </a:pPr>
            <a:r>
              <a:rPr lang="en-US" sz="2146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 discussion and collaboration.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83300" y="9195775"/>
            <a:ext cx="27126150" cy="1947309"/>
          </a:xfrm>
          <a:custGeom>
            <a:avLst/>
            <a:gdLst/>
            <a:ahLst/>
            <a:cxnLst/>
            <a:rect r="r" b="b" t="t" l="l"/>
            <a:pathLst>
              <a:path h="1947309" w="27126150">
                <a:moveTo>
                  <a:pt x="0" y="0"/>
                </a:moveTo>
                <a:lnTo>
                  <a:pt x="27126150" y="0"/>
                </a:lnTo>
                <a:lnTo>
                  <a:pt x="27126150" y="1947310"/>
                </a:lnTo>
                <a:lnTo>
                  <a:pt x="0" y="1947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6142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54419" y="776767"/>
            <a:ext cx="13503861" cy="8004107"/>
          </a:xfrm>
          <a:custGeom>
            <a:avLst/>
            <a:gdLst/>
            <a:ahLst/>
            <a:cxnLst/>
            <a:rect r="r" b="b" t="t" l="l"/>
            <a:pathLst>
              <a:path h="8004107" w="13503861">
                <a:moveTo>
                  <a:pt x="0" y="0"/>
                </a:moveTo>
                <a:lnTo>
                  <a:pt x="13503861" y="0"/>
                </a:lnTo>
                <a:lnTo>
                  <a:pt x="13503861" y="8004107"/>
                </a:lnTo>
                <a:lnTo>
                  <a:pt x="0" y="80041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83811" y="-1323835"/>
            <a:ext cx="6295964" cy="9258300"/>
          </a:xfrm>
          <a:custGeom>
            <a:avLst/>
            <a:gdLst/>
            <a:ahLst/>
            <a:cxnLst/>
            <a:rect r="r" b="b" t="t" l="l"/>
            <a:pathLst>
              <a:path h="9258300" w="6295964">
                <a:moveTo>
                  <a:pt x="0" y="0"/>
                </a:moveTo>
                <a:lnTo>
                  <a:pt x="6295964" y="0"/>
                </a:lnTo>
                <a:lnTo>
                  <a:pt x="629596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8721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13175" y="-1323835"/>
            <a:ext cx="6295964" cy="9258300"/>
          </a:xfrm>
          <a:custGeom>
            <a:avLst/>
            <a:gdLst/>
            <a:ahLst/>
            <a:cxnLst/>
            <a:rect r="r" b="b" t="t" l="l"/>
            <a:pathLst>
              <a:path h="9258300" w="6295964">
                <a:moveTo>
                  <a:pt x="0" y="0"/>
                </a:moveTo>
                <a:lnTo>
                  <a:pt x="6295964" y="0"/>
                </a:lnTo>
                <a:lnTo>
                  <a:pt x="629596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87218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750474" y="3305315"/>
            <a:ext cx="5197519" cy="4629150"/>
            <a:chOff x="0" y="0"/>
            <a:chExt cx="1368894" cy="1219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8894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68894">
                  <a:moveTo>
                    <a:pt x="0" y="0"/>
                  </a:moveTo>
                  <a:lnTo>
                    <a:pt x="1368894" y="0"/>
                  </a:lnTo>
                  <a:lnTo>
                    <a:pt x="136889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68894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641881" y="3305315"/>
            <a:ext cx="5353013" cy="4629150"/>
            <a:chOff x="0" y="0"/>
            <a:chExt cx="1409847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09847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09847">
                  <a:moveTo>
                    <a:pt x="0" y="0"/>
                  </a:moveTo>
                  <a:lnTo>
                    <a:pt x="1409847" y="0"/>
                  </a:lnTo>
                  <a:lnTo>
                    <a:pt x="1409847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09847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946588" y="7474825"/>
            <a:ext cx="4942676" cy="3441900"/>
          </a:xfrm>
          <a:custGeom>
            <a:avLst/>
            <a:gdLst/>
            <a:ahLst/>
            <a:cxnLst/>
            <a:rect r="r" b="b" t="t" l="l"/>
            <a:pathLst>
              <a:path h="3441900" w="4942676">
                <a:moveTo>
                  <a:pt x="0" y="0"/>
                </a:moveTo>
                <a:lnTo>
                  <a:pt x="4942676" y="0"/>
                </a:lnTo>
                <a:lnTo>
                  <a:pt x="4942676" y="3441900"/>
                </a:lnTo>
                <a:lnTo>
                  <a:pt x="0" y="3441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048250" y="6836800"/>
            <a:ext cx="4296691" cy="4570948"/>
          </a:xfrm>
          <a:custGeom>
            <a:avLst/>
            <a:gdLst/>
            <a:ahLst/>
            <a:cxnLst/>
            <a:rect r="r" b="b" t="t" l="l"/>
            <a:pathLst>
              <a:path h="4570948" w="4296691">
                <a:moveTo>
                  <a:pt x="0" y="0"/>
                </a:moveTo>
                <a:lnTo>
                  <a:pt x="4296691" y="0"/>
                </a:lnTo>
                <a:lnTo>
                  <a:pt x="4296691" y="4570948"/>
                </a:lnTo>
                <a:lnTo>
                  <a:pt x="0" y="4570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294172" y="-540987"/>
            <a:ext cx="6653821" cy="1880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64"/>
              </a:lnSpc>
            </a:pPr>
            <a:r>
              <a:rPr lang="en-US" sz="10974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Objectives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87903" y="3504541"/>
            <a:ext cx="4297363" cy="427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Enhanced Collaboration</a:t>
            </a:r>
          </a:p>
          <a:p>
            <a:pPr algn="l">
              <a:lnSpc>
                <a:spcPts val="4005"/>
              </a:lnSpc>
            </a:pPr>
          </a:p>
          <a:p>
            <a:pPr algn="ctr">
              <a:lnSpc>
                <a:spcPts val="3725"/>
              </a:lnSpc>
            </a:pPr>
            <a:r>
              <a:rPr lang="en-US" b="true" sz="2661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The platform fosters teamwork by enabling students to share notes and communicate effectively, especially during exam preparations.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69706" y="3504541"/>
            <a:ext cx="4297363" cy="427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User-Friendly Design</a:t>
            </a:r>
          </a:p>
          <a:p>
            <a:pPr algn="l">
              <a:lnSpc>
                <a:spcPts val="4005"/>
              </a:lnSpc>
            </a:pPr>
          </a:p>
          <a:p>
            <a:pPr algn="ctr">
              <a:lnSpc>
                <a:spcPts val="3725"/>
              </a:lnSpc>
            </a:pPr>
            <a:r>
              <a:rPr lang="en-US" b="true" sz="2661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An intuitive interface ensures seamless navigation, making it easy for all students to engage with the platform's resources.</a:t>
            </a:r>
          </a:p>
          <a:p>
            <a:pPr algn="ctr">
              <a:lnSpc>
                <a:spcPts val="3725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477912" y="3305315"/>
            <a:ext cx="4866382" cy="4629150"/>
            <a:chOff x="0" y="0"/>
            <a:chExt cx="1281681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81681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81681">
                  <a:moveTo>
                    <a:pt x="0" y="0"/>
                  </a:moveTo>
                  <a:lnTo>
                    <a:pt x="1281681" y="0"/>
                  </a:lnTo>
                  <a:lnTo>
                    <a:pt x="1281681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81681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73121" y="1150889"/>
            <a:ext cx="17868218" cy="996713"/>
            <a:chOff x="0" y="0"/>
            <a:chExt cx="4706033" cy="2625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06033" cy="262509"/>
            </a:xfrm>
            <a:custGeom>
              <a:avLst/>
              <a:gdLst/>
              <a:ahLst/>
              <a:cxnLst/>
              <a:rect r="r" b="b" t="t" l="l"/>
              <a:pathLst>
                <a:path h="262509" w="4706033">
                  <a:moveTo>
                    <a:pt x="0" y="0"/>
                  </a:moveTo>
                  <a:lnTo>
                    <a:pt x="4706033" y="0"/>
                  </a:lnTo>
                  <a:lnTo>
                    <a:pt x="4706033" y="262509"/>
                  </a:lnTo>
                  <a:lnTo>
                    <a:pt x="0" y="262509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706033" cy="300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64392" y="1286657"/>
            <a:ext cx="17744384" cy="86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8" b="true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 comprehensive solution to enhance academic collaboration through efficient </a:t>
            </a:r>
            <a:r>
              <a:rPr lang="en-US" sz="2488" b="true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note sharing and management for students and teachers alike</a:t>
            </a:r>
            <a:r>
              <a:rPr lang="en-US" sz="2488" b="true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7139" y="3509265"/>
            <a:ext cx="4297363" cy="4839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5"/>
              </a:lnSpc>
            </a:pPr>
            <a:r>
              <a:rPr lang="en-US" sz="3061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Centralized Storage</a:t>
            </a:r>
          </a:p>
          <a:p>
            <a:pPr algn="l">
              <a:lnSpc>
                <a:spcPts val="4005"/>
              </a:lnSpc>
            </a:pPr>
          </a:p>
          <a:p>
            <a:pPr algn="ctr">
              <a:lnSpc>
                <a:spcPts val="3725"/>
              </a:lnSpc>
            </a:pPr>
            <a:r>
              <a:rPr lang="en-US" b="true" sz="2661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Users can upload, access, and manage all their academic materials in one secure location, simplifying the study process.</a:t>
            </a:r>
          </a:p>
          <a:p>
            <a:pPr algn="l">
              <a:lnSpc>
                <a:spcPts val="4005"/>
              </a:lnSpc>
            </a:pPr>
          </a:p>
          <a:p>
            <a:pPr algn="l">
              <a:lnSpc>
                <a:spcPts val="400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83300" y="9195775"/>
            <a:ext cx="27126150" cy="1947309"/>
          </a:xfrm>
          <a:custGeom>
            <a:avLst/>
            <a:gdLst/>
            <a:ahLst/>
            <a:cxnLst/>
            <a:rect r="r" b="b" t="t" l="l"/>
            <a:pathLst>
              <a:path h="1947309" w="27126150">
                <a:moveTo>
                  <a:pt x="0" y="0"/>
                </a:moveTo>
                <a:lnTo>
                  <a:pt x="27126150" y="0"/>
                </a:lnTo>
                <a:lnTo>
                  <a:pt x="27126150" y="1947310"/>
                </a:lnTo>
                <a:lnTo>
                  <a:pt x="0" y="1947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6142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54419" y="776767"/>
            <a:ext cx="13503861" cy="8004107"/>
          </a:xfrm>
          <a:custGeom>
            <a:avLst/>
            <a:gdLst/>
            <a:ahLst/>
            <a:cxnLst/>
            <a:rect r="r" b="b" t="t" l="l"/>
            <a:pathLst>
              <a:path h="8004107" w="13503861">
                <a:moveTo>
                  <a:pt x="0" y="0"/>
                </a:moveTo>
                <a:lnTo>
                  <a:pt x="13503861" y="0"/>
                </a:lnTo>
                <a:lnTo>
                  <a:pt x="13503861" y="8004107"/>
                </a:lnTo>
                <a:lnTo>
                  <a:pt x="0" y="80041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83811" y="-1323835"/>
            <a:ext cx="6295964" cy="9258300"/>
          </a:xfrm>
          <a:custGeom>
            <a:avLst/>
            <a:gdLst/>
            <a:ahLst/>
            <a:cxnLst/>
            <a:rect r="r" b="b" t="t" l="l"/>
            <a:pathLst>
              <a:path h="9258300" w="6295964">
                <a:moveTo>
                  <a:pt x="0" y="0"/>
                </a:moveTo>
                <a:lnTo>
                  <a:pt x="6295964" y="0"/>
                </a:lnTo>
                <a:lnTo>
                  <a:pt x="629596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8721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13175" y="-1323835"/>
            <a:ext cx="6295964" cy="9258300"/>
          </a:xfrm>
          <a:custGeom>
            <a:avLst/>
            <a:gdLst/>
            <a:ahLst/>
            <a:cxnLst/>
            <a:rect r="r" b="b" t="t" l="l"/>
            <a:pathLst>
              <a:path h="9258300" w="6295964">
                <a:moveTo>
                  <a:pt x="0" y="0"/>
                </a:moveTo>
                <a:lnTo>
                  <a:pt x="6295964" y="0"/>
                </a:lnTo>
                <a:lnTo>
                  <a:pt x="629596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87218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750474" y="2995733"/>
            <a:ext cx="5197519" cy="4629150"/>
            <a:chOff x="0" y="0"/>
            <a:chExt cx="1368894" cy="1219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8894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68894">
                  <a:moveTo>
                    <a:pt x="0" y="0"/>
                  </a:moveTo>
                  <a:lnTo>
                    <a:pt x="1368894" y="0"/>
                  </a:lnTo>
                  <a:lnTo>
                    <a:pt x="136889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68894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142497" y="2995733"/>
            <a:ext cx="4597320" cy="4629150"/>
            <a:chOff x="0" y="0"/>
            <a:chExt cx="1210817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10817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0817">
                  <a:moveTo>
                    <a:pt x="0" y="0"/>
                  </a:moveTo>
                  <a:lnTo>
                    <a:pt x="1210817" y="0"/>
                  </a:lnTo>
                  <a:lnTo>
                    <a:pt x="1210817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10817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946588" y="7474825"/>
            <a:ext cx="4942676" cy="3441900"/>
          </a:xfrm>
          <a:custGeom>
            <a:avLst/>
            <a:gdLst/>
            <a:ahLst/>
            <a:cxnLst/>
            <a:rect r="r" b="b" t="t" l="l"/>
            <a:pathLst>
              <a:path h="3441900" w="4942676">
                <a:moveTo>
                  <a:pt x="0" y="0"/>
                </a:moveTo>
                <a:lnTo>
                  <a:pt x="4942676" y="0"/>
                </a:lnTo>
                <a:lnTo>
                  <a:pt x="4942676" y="3441900"/>
                </a:lnTo>
                <a:lnTo>
                  <a:pt x="0" y="3441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048250" y="6836800"/>
            <a:ext cx="4296691" cy="4570948"/>
          </a:xfrm>
          <a:custGeom>
            <a:avLst/>
            <a:gdLst/>
            <a:ahLst/>
            <a:cxnLst/>
            <a:rect r="r" b="b" t="t" l="l"/>
            <a:pathLst>
              <a:path h="4570948" w="4296691">
                <a:moveTo>
                  <a:pt x="0" y="0"/>
                </a:moveTo>
                <a:lnTo>
                  <a:pt x="4296691" y="0"/>
                </a:lnTo>
                <a:lnTo>
                  <a:pt x="4296691" y="4570948"/>
                </a:lnTo>
                <a:lnTo>
                  <a:pt x="0" y="4570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294172" y="-540987"/>
            <a:ext cx="6653821" cy="1880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64"/>
              </a:lnSpc>
            </a:pPr>
            <a:r>
              <a:rPr lang="en-US" sz="10974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Objectives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45341" y="3238640"/>
            <a:ext cx="4297363" cy="287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</a:pPr>
            <a:r>
              <a:rPr lang="en-US" sz="2861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Group Communication</a:t>
            </a:r>
          </a:p>
          <a:p>
            <a:pPr algn="l">
              <a:lnSpc>
                <a:spcPts val="4005"/>
              </a:lnSpc>
            </a:pPr>
          </a:p>
          <a:p>
            <a:pPr algn="ctr">
              <a:lnSpc>
                <a:spcPts val="3725"/>
              </a:lnSpc>
            </a:pPr>
            <a:r>
              <a:rPr lang="en-US" b="true" sz="2661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To support group-based chat for student discussion and collaborative learning.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50095" y="3088641"/>
            <a:ext cx="4382124" cy="438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4"/>
              </a:lnSpc>
            </a:pPr>
            <a:r>
              <a:rPr lang="en-US" sz="2917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Subject-Based Exam Preparation</a:t>
            </a:r>
          </a:p>
          <a:p>
            <a:pPr algn="l">
              <a:lnSpc>
                <a:spcPts val="4084"/>
              </a:lnSpc>
            </a:pPr>
          </a:p>
          <a:p>
            <a:pPr algn="ctr">
              <a:lnSpc>
                <a:spcPts val="3799"/>
              </a:lnSpc>
            </a:pPr>
            <a:r>
              <a:rPr lang="en-US" b="true" sz="2713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To</a:t>
            </a:r>
            <a:r>
              <a:rPr lang="en-US" b="true" sz="2713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allow students to select a subject before exams and instantly access all related notes for focused and efficient revision.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63676" y="2995733"/>
            <a:ext cx="4866382" cy="4629150"/>
            <a:chOff x="0" y="0"/>
            <a:chExt cx="1281681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81681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81681">
                  <a:moveTo>
                    <a:pt x="0" y="0"/>
                  </a:moveTo>
                  <a:lnTo>
                    <a:pt x="1281681" y="0"/>
                  </a:lnTo>
                  <a:lnTo>
                    <a:pt x="1281681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81681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91513" y="1059193"/>
            <a:ext cx="17704973" cy="996713"/>
            <a:chOff x="0" y="0"/>
            <a:chExt cx="4663038" cy="2625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663038" cy="262509"/>
            </a:xfrm>
            <a:custGeom>
              <a:avLst/>
              <a:gdLst/>
              <a:ahLst/>
              <a:cxnLst/>
              <a:rect r="r" b="b" t="t" l="l"/>
              <a:pathLst>
                <a:path h="262509" w="4663038">
                  <a:moveTo>
                    <a:pt x="0" y="0"/>
                  </a:moveTo>
                  <a:lnTo>
                    <a:pt x="4663038" y="0"/>
                  </a:lnTo>
                  <a:lnTo>
                    <a:pt x="4663038" y="262509"/>
                  </a:lnTo>
                  <a:lnTo>
                    <a:pt x="0" y="262509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663038" cy="300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43616" y="1103264"/>
            <a:ext cx="17744384" cy="86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8" b="true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 comprehensive solution to enhance academic collaboration through efficient </a:t>
            </a:r>
            <a:r>
              <a:rPr lang="en-US" sz="2488" b="true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note sharing and management for students and teachers alike</a:t>
            </a:r>
            <a:r>
              <a:rPr lang="en-US" sz="2488" b="true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8185" y="3088641"/>
            <a:ext cx="4297363" cy="491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5"/>
              </a:lnSpc>
            </a:pPr>
            <a:r>
              <a:rPr lang="en-US" sz="3061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Secure Online Test Module</a:t>
            </a:r>
          </a:p>
          <a:p>
            <a:pPr algn="l">
              <a:lnSpc>
                <a:spcPts val="4005"/>
              </a:lnSpc>
            </a:pPr>
          </a:p>
          <a:p>
            <a:pPr algn="ctr">
              <a:lnSpc>
                <a:spcPts val="3725"/>
              </a:lnSpc>
            </a:pPr>
            <a:r>
              <a:rPr lang="en-US" b="true" sz="2661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</a:t>
            </a:r>
            <a:r>
              <a:rPr lang="en-US" b="true" sz="2661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nduct MCQ and descriptive exams in a secure single-window environment to maintain exam integrity.</a:t>
            </a:r>
          </a:p>
          <a:p>
            <a:pPr algn="l">
              <a:lnSpc>
                <a:spcPts val="4005"/>
              </a:lnSpc>
            </a:pPr>
          </a:p>
          <a:p>
            <a:pPr algn="l">
              <a:lnSpc>
                <a:spcPts val="400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83300" y="9195775"/>
            <a:ext cx="27126150" cy="1947309"/>
          </a:xfrm>
          <a:custGeom>
            <a:avLst/>
            <a:gdLst/>
            <a:ahLst/>
            <a:cxnLst/>
            <a:rect r="r" b="b" t="t" l="l"/>
            <a:pathLst>
              <a:path h="1947309" w="27126150">
                <a:moveTo>
                  <a:pt x="0" y="0"/>
                </a:moveTo>
                <a:lnTo>
                  <a:pt x="27126150" y="0"/>
                </a:lnTo>
                <a:lnTo>
                  <a:pt x="27126150" y="1947310"/>
                </a:lnTo>
                <a:lnTo>
                  <a:pt x="0" y="1947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6142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54419" y="776767"/>
            <a:ext cx="13503861" cy="8004107"/>
          </a:xfrm>
          <a:custGeom>
            <a:avLst/>
            <a:gdLst/>
            <a:ahLst/>
            <a:cxnLst/>
            <a:rect r="r" b="b" t="t" l="l"/>
            <a:pathLst>
              <a:path h="8004107" w="13503861">
                <a:moveTo>
                  <a:pt x="0" y="0"/>
                </a:moveTo>
                <a:lnTo>
                  <a:pt x="13503861" y="0"/>
                </a:lnTo>
                <a:lnTo>
                  <a:pt x="13503861" y="8004107"/>
                </a:lnTo>
                <a:lnTo>
                  <a:pt x="0" y="80041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83811" y="-1323835"/>
            <a:ext cx="6295964" cy="9258300"/>
          </a:xfrm>
          <a:custGeom>
            <a:avLst/>
            <a:gdLst/>
            <a:ahLst/>
            <a:cxnLst/>
            <a:rect r="r" b="b" t="t" l="l"/>
            <a:pathLst>
              <a:path h="9258300" w="6295964">
                <a:moveTo>
                  <a:pt x="0" y="0"/>
                </a:moveTo>
                <a:lnTo>
                  <a:pt x="6295964" y="0"/>
                </a:lnTo>
                <a:lnTo>
                  <a:pt x="629596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8721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13175" y="-1323835"/>
            <a:ext cx="6295964" cy="9258300"/>
          </a:xfrm>
          <a:custGeom>
            <a:avLst/>
            <a:gdLst/>
            <a:ahLst/>
            <a:cxnLst/>
            <a:rect r="r" b="b" t="t" l="l"/>
            <a:pathLst>
              <a:path h="9258300" w="6295964">
                <a:moveTo>
                  <a:pt x="0" y="0"/>
                </a:moveTo>
                <a:lnTo>
                  <a:pt x="6295964" y="0"/>
                </a:lnTo>
                <a:lnTo>
                  <a:pt x="629596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87218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963696" y="1398802"/>
            <a:ext cx="3647544" cy="7382072"/>
            <a:chOff x="0" y="0"/>
            <a:chExt cx="960670" cy="19442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0670" cy="1944249"/>
            </a:xfrm>
            <a:custGeom>
              <a:avLst/>
              <a:gdLst/>
              <a:ahLst/>
              <a:cxnLst/>
              <a:rect r="r" b="b" t="t" l="l"/>
              <a:pathLst>
                <a:path h="1944249" w="960670">
                  <a:moveTo>
                    <a:pt x="40328" y="0"/>
                  </a:moveTo>
                  <a:lnTo>
                    <a:pt x="920342" y="0"/>
                  </a:lnTo>
                  <a:cubicBezTo>
                    <a:pt x="931038" y="0"/>
                    <a:pt x="941296" y="4249"/>
                    <a:pt x="948858" y="11812"/>
                  </a:cubicBezTo>
                  <a:cubicBezTo>
                    <a:pt x="956421" y="19375"/>
                    <a:pt x="960670" y="29632"/>
                    <a:pt x="960670" y="40328"/>
                  </a:cubicBezTo>
                  <a:lnTo>
                    <a:pt x="960670" y="1903922"/>
                  </a:lnTo>
                  <a:cubicBezTo>
                    <a:pt x="960670" y="1914617"/>
                    <a:pt x="956421" y="1924875"/>
                    <a:pt x="948858" y="1932438"/>
                  </a:cubicBezTo>
                  <a:cubicBezTo>
                    <a:pt x="941296" y="1940001"/>
                    <a:pt x="931038" y="1944249"/>
                    <a:pt x="920342" y="1944249"/>
                  </a:cubicBezTo>
                  <a:lnTo>
                    <a:pt x="40328" y="1944249"/>
                  </a:lnTo>
                  <a:cubicBezTo>
                    <a:pt x="18055" y="1944249"/>
                    <a:pt x="0" y="1926194"/>
                    <a:pt x="0" y="1903922"/>
                  </a:cubicBezTo>
                  <a:lnTo>
                    <a:pt x="0" y="40328"/>
                  </a:lnTo>
                  <a:cubicBezTo>
                    <a:pt x="0" y="29632"/>
                    <a:pt x="4249" y="19375"/>
                    <a:pt x="11812" y="11812"/>
                  </a:cubicBezTo>
                  <a:cubicBezTo>
                    <a:pt x="19375" y="4249"/>
                    <a:pt x="29632" y="0"/>
                    <a:pt x="40328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60670" cy="1982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761157" y="1398802"/>
            <a:ext cx="3838943" cy="7162219"/>
            <a:chOff x="0" y="0"/>
            <a:chExt cx="1011080" cy="18863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1080" cy="1886346"/>
            </a:xfrm>
            <a:custGeom>
              <a:avLst/>
              <a:gdLst/>
              <a:ahLst/>
              <a:cxnLst/>
              <a:rect r="r" b="b" t="t" l="l"/>
              <a:pathLst>
                <a:path h="1886346" w="1011080">
                  <a:moveTo>
                    <a:pt x="38317" y="0"/>
                  </a:moveTo>
                  <a:lnTo>
                    <a:pt x="972763" y="0"/>
                  </a:lnTo>
                  <a:cubicBezTo>
                    <a:pt x="993925" y="0"/>
                    <a:pt x="1011080" y="17155"/>
                    <a:pt x="1011080" y="38317"/>
                  </a:cubicBezTo>
                  <a:lnTo>
                    <a:pt x="1011080" y="1848029"/>
                  </a:lnTo>
                  <a:cubicBezTo>
                    <a:pt x="1011080" y="1869191"/>
                    <a:pt x="993925" y="1886346"/>
                    <a:pt x="972763" y="1886346"/>
                  </a:cubicBezTo>
                  <a:lnTo>
                    <a:pt x="38317" y="1886346"/>
                  </a:lnTo>
                  <a:cubicBezTo>
                    <a:pt x="17155" y="1886346"/>
                    <a:pt x="0" y="1869191"/>
                    <a:pt x="0" y="1848029"/>
                  </a:cubicBezTo>
                  <a:lnTo>
                    <a:pt x="0" y="38317"/>
                  </a:lnTo>
                  <a:cubicBezTo>
                    <a:pt x="0" y="17155"/>
                    <a:pt x="17155" y="0"/>
                    <a:pt x="38317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11080" cy="1924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946588" y="7474825"/>
            <a:ext cx="4942676" cy="3441900"/>
          </a:xfrm>
          <a:custGeom>
            <a:avLst/>
            <a:gdLst/>
            <a:ahLst/>
            <a:cxnLst/>
            <a:rect r="r" b="b" t="t" l="l"/>
            <a:pathLst>
              <a:path h="3441900" w="4942676">
                <a:moveTo>
                  <a:pt x="0" y="0"/>
                </a:moveTo>
                <a:lnTo>
                  <a:pt x="4942676" y="0"/>
                </a:lnTo>
                <a:lnTo>
                  <a:pt x="4942676" y="3441900"/>
                </a:lnTo>
                <a:lnTo>
                  <a:pt x="0" y="3441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831447" y="6910301"/>
            <a:ext cx="4296691" cy="4570948"/>
          </a:xfrm>
          <a:custGeom>
            <a:avLst/>
            <a:gdLst/>
            <a:ahLst/>
            <a:cxnLst/>
            <a:rect r="r" b="b" t="t" l="l"/>
            <a:pathLst>
              <a:path h="4570948" w="4296691">
                <a:moveTo>
                  <a:pt x="0" y="0"/>
                </a:moveTo>
                <a:lnTo>
                  <a:pt x="4296691" y="0"/>
                </a:lnTo>
                <a:lnTo>
                  <a:pt x="4296691" y="4570948"/>
                </a:lnTo>
                <a:lnTo>
                  <a:pt x="0" y="4570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722405" y="-114300"/>
            <a:ext cx="11187434" cy="102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1"/>
              </a:lnSpc>
            </a:pPr>
            <a:r>
              <a:rPr lang="en-US" sz="6029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Key Features of the Platform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99736" y="1726488"/>
            <a:ext cx="3301954" cy="5294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Voice-Based Discussion forums</a:t>
            </a:r>
          </a:p>
          <a:p>
            <a:pPr algn="ctr">
              <a:lnSpc>
                <a:spcPts val="3445"/>
              </a:lnSpc>
            </a:pPr>
          </a:p>
          <a:p>
            <a:pPr algn="ctr">
              <a:lnSpc>
                <a:spcPts val="3445"/>
              </a:lnSpc>
            </a:pPr>
            <a:r>
              <a:rPr lang="en-US" b="true" sz="2461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The platform functions as a voice-based discussion forum, similar to a Discord server, where teachers and students can interact in their dedicated groups.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00024" y="1655730"/>
            <a:ext cx="3361209" cy="7096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5"/>
              </a:lnSpc>
            </a:pPr>
            <a:r>
              <a:rPr lang="en-US" sz="2825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PDF Annotation Features</a:t>
            </a:r>
          </a:p>
          <a:p>
            <a:pPr algn="l">
              <a:lnSpc>
                <a:spcPts val="3395"/>
              </a:lnSpc>
            </a:pPr>
          </a:p>
          <a:p>
            <a:pPr algn="ctr">
              <a:lnSpc>
                <a:spcPts val="3481"/>
              </a:lnSpc>
            </a:pPr>
            <a:r>
              <a:rPr lang="en-US" b="true" sz="2486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Students can annotate PDFs directly within the platform, allowing for interactive learning by highlighting important information and adding notes to lecture materials for enhanced understanding.</a:t>
            </a:r>
          </a:p>
          <a:p>
            <a:pPr algn="ctr">
              <a:lnSpc>
                <a:spcPts val="3395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773960" y="1369767"/>
            <a:ext cx="3680661" cy="7382072"/>
            <a:chOff x="0" y="0"/>
            <a:chExt cx="969392" cy="19442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9392" cy="1944249"/>
            </a:xfrm>
            <a:custGeom>
              <a:avLst/>
              <a:gdLst/>
              <a:ahLst/>
              <a:cxnLst/>
              <a:rect r="r" b="b" t="t" l="l"/>
              <a:pathLst>
                <a:path h="1944249" w="969392">
                  <a:moveTo>
                    <a:pt x="39965" y="0"/>
                  </a:moveTo>
                  <a:lnTo>
                    <a:pt x="929428" y="0"/>
                  </a:lnTo>
                  <a:cubicBezTo>
                    <a:pt x="951499" y="0"/>
                    <a:pt x="969392" y="17893"/>
                    <a:pt x="969392" y="39965"/>
                  </a:cubicBezTo>
                  <a:lnTo>
                    <a:pt x="969392" y="1904285"/>
                  </a:lnTo>
                  <a:cubicBezTo>
                    <a:pt x="969392" y="1914884"/>
                    <a:pt x="965182" y="1925049"/>
                    <a:pt x="957687" y="1932544"/>
                  </a:cubicBezTo>
                  <a:cubicBezTo>
                    <a:pt x="950192" y="1940039"/>
                    <a:pt x="940027" y="1944249"/>
                    <a:pt x="929428" y="1944249"/>
                  </a:cubicBezTo>
                  <a:lnTo>
                    <a:pt x="39965" y="1944249"/>
                  </a:lnTo>
                  <a:cubicBezTo>
                    <a:pt x="17893" y="1944249"/>
                    <a:pt x="0" y="1926357"/>
                    <a:pt x="0" y="1904285"/>
                  </a:cubicBezTo>
                  <a:lnTo>
                    <a:pt x="0" y="39965"/>
                  </a:lnTo>
                  <a:cubicBezTo>
                    <a:pt x="0" y="29365"/>
                    <a:pt x="4211" y="19200"/>
                    <a:pt x="11705" y="11705"/>
                  </a:cubicBezTo>
                  <a:cubicBezTo>
                    <a:pt x="19200" y="4211"/>
                    <a:pt x="29365" y="0"/>
                    <a:pt x="39965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69392" cy="1982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01815" y="1427838"/>
            <a:ext cx="3565097" cy="7324001"/>
            <a:chOff x="0" y="0"/>
            <a:chExt cx="938956" cy="19289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38956" cy="1928955"/>
            </a:xfrm>
            <a:custGeom>
              <a:avLst/>
              <a:gdLst/>
              <a:ahLst/>
              <a:cxnLst/>
              <a:rect r="r" b="b" t="t" l="l"/>
              <a:pathLst>
                <a:path h="1928955" w="938956">
                  <a:moveTo>
                    <a:pt x="41260" y="0"/>
                  </a:moveTo>
                  <a:lnTo>
                    <a:pt x="897695" y="0"/>
                  </a:lnTo>
                  <a:cubicBezTo>
                    <a:pt x="920483" y="0"/>
                    <a:pt x="938956" y="18473"/>
                    <a:pt x="938956" y="41260"/>
                  </a:cubicBezTo>
                  <a:lnTo>
                    <a:pt x="938956" y="1887695"/>
                  </a:lnTo>
                  <a:cubicBezTo>
                    <a:pt x="938956" y="1910482"/>
                    <a:pt x="920483" y="1928955"/>
                    <a:pt x="897695" y="1928955"/>
                  </a:cubicBezTo>
                  <a:lnTo>
                    <a:pt x="41260" y="1928955"/>
                  </a:lnTo>
                  <a:cubicBezTo>
                    <a:pt x="18473" y="1928955"/>
                    <a:pt x="0" y="1910482"/>
                    <a:pt x="0" y="1887695"/>
                  </a:cubicBezTo>
                  <a:lnTo>
                    <a:pt x="0" y="41260"/>
                  </a:lnTo>
                  <a:cubicBezTo>
                    <a:pt x="0" y="18473"/>
                    <a:pt x="18473" y="0"/>
                    <a:pt x="4126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38956" cy="1967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55460" y="1736013"/>
            <a:ext cx="3117661" cy="6295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828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Automated FAQ</a:t>
            </a:r>
          </a:p>
          <a:p>
            <a:pPr algn="ctr">
              <a:lnSpc>
                <a:spcPts val="3960"/>
              </a:lnSpc>
            </a:pPr>
            <a:r>
              <a:rPr lang="en-US" sz="2828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Generation</a:t>
            </a:r>
          </a:p>
          <a:p>
            <a:pPr algn="ctr">
              <a:lnSpc>
                <a:spcPts val="3960"/>
              </a:lnSpc>
            </a:pPr>
          </a:p>
          <a:p>
            <a:pPr algn="ctr">
              <a:lnSpc>
                <a:spcPts val="3485"/>
              </a:lnSpc>
            </a:pPr>
            <a:r>
              <a:rPr lang="en-US" sz="2489" b="true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The platform will use machine learning algorithms to create FAQs from previously asked questions, helping students find answers quickly and efficiently, especially during exam preparations.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08984" y="1823721"/>
            <a:ext cx="3150760" cy="658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Built-In Collaboration Tools</a:t>
            </a:r>
          </a:p>
          <a:p>
            <a:pPr algn="ctr">
              <a:lnSpc>
                <a:spcPts val="3920"/>
              </a:lnSpc>
            </a:pPr>
          </a:p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Integrated communication tools enable real-time collaboration among students and teachers, ensuring that everyone stays informed and engaged through announcements and discussion threads.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83300" y="9195775"/>
            <a:ext cx="27126150" cy="1947309"/>
          </a:xfrm>
          <a:custGeom>
            <a:avLst/>
            <a:gdLst/>
            <a:ahLst/>
            <a:cxnLst/>
            <a:rect r="r" b="b" t="t" l="l"/>
            <a:pathLst>
              <a:path h="1947309" w="27126150">
                <a:moveTo>
                  <a:pt x="0" y="0"/>
                </a:moveTo>
                <a:lnTo>
                  <a:pt x="27126150" y="0"/>
                </a:lnTo>
                <a:lnTo>
                  <a:pt x="27126150" y="1947310"/>
                </a:lnTo>
                <a:lnTo>
                  <a:pt x="0" y="1947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6142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54419" y="776767"/>
            <a:ext cx="13503861" cy="8004107"/>
          </a:xfrm>
          <a:custGeom>
            <a:avLst/>
            <a:gdLst/>
            <a:ahLst/>
            <a:cxnLst/>
            <a:rect r="r" b="b" t="t" l="l"/>
            <a:pathLst>
              <a:path h="8004107" w="13503861">
                <a:moveTo>
                  <a:pt x="0" y="0"/>
                </a:moveTo>
                <a:lnTo>
                  <a:pt x="13503861" y="0"/>
                </a:lnTo>
                <a:lnTo>
                  <a:pt x="13503861" y="8004107"/>
                </a:lnTo>
                <a:lnTo>
                  <a:pt x="0" y="80041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83811" y="-1323835"/>
            <a:ext cx="6295964" cy="9258300"/>
          </a:xfrm>
          <a:custGeom>
            <a:avLst/>
            <a:gdLst/>
            <a:ahLst/>
            <a:cxnLst/>
            <a:rect r="r" b="b" t="t" l="l"/>
            <a:pathLst>
              <a:path h="9258300" w="6295964">
                <a:moveTo>
                  <a:pt x="0" y="0"/>
                </a:moveTo>
                <a:lnTo>
                  <a:pt x="6295964" y="0"/>
                </a:lnTo>
                <a:lnTo>
                  <a:pt x="629596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8721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13175" y="-1323835"/>
            <a:ext cx="6295964" cy="9258300"/>
          </a:xfrm>
          <a:custGeom>
            <a:avLst/>
            <a:gdLst/>
            <a:ahLst/>
            <a:cxnLst/>
            <a:rect r="r" b="b" t="t" l="l"/>
            <a:pathLst>
              <a:path h="9258300" w="6295964">
                <a:moveTo>
                  <a:pt x="0" y="0"/>
                </a:moveTo>
                <a:lnTo>
                  <a:pt x="6295964" y="0"/>
                </a:lnTo>
                <a:lnTo>
                  <a:pt x="629596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87218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963696" y="1398802"/>
            <a:ext cx="3647544" cy="7382072"/>
            <a:chOff x="0" y="0"/>
            <a:chExt cx="960670" cy="19442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0670" cy="1944249"/>
            </a:xfrm>
            <a:custGeom>
              <a:avLst/>
              <a:gdLst/>
              <a:ahLst/>
              <a:cxnLst/>
              <a:rect r="r" b="b" t="t" l="l"/>
              <a:pathLst>
                <a:path h="1944249" w="960670">
                  <a:moveTo>
                    <a:pt x="40328" y="0"/>
                  </a:moveTo>
                  <a:lnTo>
                    <a:pt x="920342" y="0"/>
                  </a:lnTo>
                  <a:cubicBezTo>
                    <a:pt x="931038" y="0"/>
                    <a:pt x="941296" y="4249"/>
                    <a:pt x="948858" y="11812"/>
                  </a:cubicBezTo>
                  <a:cubicBezTo>
                    <a:pt x="956421" y="19375"/>
                    <a:pt x="960670" y="29632"/>
                    <a:pt x="960670" y="40328"/>
                  </a:cubicBezTo>
                  <a:lnTo>
                    <a:pt x="960670" y="1903922"/>
                  </a:lnTo>
                  <a:cubicBezTo>
                    <a:pt x="960670" y="1914617"/>
                    <a:pt x="956421" y="1924875"/>
                    <a:pt x="948858" y="1932438"/>
                  </a:cubicBezTo>
                  <a:cubicBezTo>
                    <a:pt x="941296" y="1940001"/>
                    <a:pt x="931038" y="1944249"/>
                    <a:pt x="920342" y="1944249"/>
                  </a:cubicBezTo>
                  <a:lnTo>
                    <a:pt x="40328" y="1944249"/>
                  </a:lnTo>
                  <a:cubicBezTo>
                    <a:pt x="18055" y="1944249"/>
                    <a:pt x="0" y="1926194"/>
                    <a:pt x="0" y="1903922"/>
                  </a:cubicBezTo>
                  <a:lnTo>
                    <a:pt x="0" y="40328"/>
                  </a:lnTo>
                  <a:cubicBezTo>
                    <a:pt x="0" y="29632"/>
                    <a:pt x="4249" y="19375"/>
                    <a:pt x="11812" y="11812"/>
                  </a:cubicBezTo>
                  <a:cubicBezTo>
                    <a:pt x="19375" y="4249"/>
                    <a:pt x="29632" y="0"/>
                    <a:pt x="40328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60670" cy="1982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761157" y="1398802"/>
            <a:ext cx="3838943" cy="7162219"/>
            <a:chOff x="0" y="0"/>
            <a:chExt cx="1011080" cy="18863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1080" cy="1886346"/>
            </a:xfrm>
            <a:custGeom>
              <a:avLst/>
              <a:gdLst/>
              <a:ahLst/>
              <a:cxnLst/>
              <a:rect r="r" b="b" t="t" l="l"/>
              <a:pathLst>
                <a:path h="1886346" w="1011080">
                  <a:moveTo>
                    <a:pt x="38317" y="0"/>
                  </a:moveTo>
                  <a:lnTo>
                    <a:pt x="972763" y="0"/>
                  </a:lnTo>
                  <a:cubicBezTo>
                    <a:pt x="993925" y="0"/>
                    <a:pt x="1011080" y="17155"/>
                    <a:pt x="1011080" y="38317"/>
                  </a:cubicBezTo>
                  <a:lnTo>
                    <a:pt x="1011080" y="1848029"/>
                  </a:lnTo>
                  <a:cubicBezTo>
                    <a:pt x="1011080" y="1869191"/>
                    <a:pt x="993925" y="1886346"/>
                    <a:pt x="972763" y="1886346"/>
                  </a:cubicBezTo>
                  <a:lnTo>
                    <a:pt x="38317" y="1886346"/>
                  </a:lnTo>
                  <a:cubicBezTo>
                    <a:pt x="17155" y="1886346"/>
                    <a:pt x="0" y="1869191"/>
                    <a:pt x="0" y="1848029"/>
                  </a:cubicBezTo>
                  <a:lnTo>
                    <a:pt x="0" y="38317"/>
                  </a:lnTo>
                  <a:cubicBezTo>
                    <a:pt x="0" y="17155"/>
                    <a:pt x="17155" y="0"/>
                    <a:pt x="38317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11080" cy="1924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946588" y="7474825"/>
            <a:ext cx="4942676" cy="3441900"/>
          </a:xfrm>
          <a:custGeom>
            <a:avLst/>
            <a:gdLst/>
            <a:ahLst/>
            <a:cxnLst/>
            <a:rect r="r" b="b" t="t" l="l"/>
            <a:pathLst>
              <a:path h="3441900" w="4942676">
                <a:moveTo>
                  <a:pt x="0" y="0"/>
                </a:moveTo>
                <a:lnTo>
                  <a:pt x="4942676" y="0"/>
                </a:lnTo>
                <a:lnTo>
                  <a:pt x="4942676" y="3441900"/>
                </a:lnTo>
                <a:lnTo>
                  <a:pt x="0" y="3441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831447" y="6910301"/>
            <a:ext cx="4296691" cy="4570948"/>
          </a:xfrm>
          <a:custGeom>
            <a:avLst/>
            <a:gdLst/>
            <a:ahLst/>
            <a:cxnLst/>
            <a:rect r="r" b="b" t="t" l="l"/>
            <a:pathLst>
              <a:path h="4570948" w="4296691">
                <a:moveTo>
                  <a:pt x="0" y="0"/>
                </a:moveTo>
                <a:lnTo>
                  <a:pt x="4296691" y="0"/>
                </a:lnTo>
                <a:lnTo>
                  <a:pt x="4296691" y="4570948"/>
                </a:lnTo>
                <a:lnTo>
                  <a:pt x="0" y="4570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722405" y="-114300"/>
            <a:ext cx="11187434" cy="102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1"/>
              </a:lnSpc>
            </a:pPr>
            <a:r>
              <a:rPr lang="en-US" sz="6029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Key Features of the Platform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99736" y="1726488"/>
            <a:ext cx="3301954" cy="5799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Attempt Control &amp; Access Management</a:t>
            </a:r>
          </a:p>
          <a:p>
            <a:pPr algn="ctr">
              <a:lnSpc>
                <a:spcPts val="3445"/>
              </a:lnSpc>
            </a:pPr>
          </a:p>
          <a:p>
            <a:pPr algn="ctr">
              <a:lnSpc>
                <a:spcPts val="3445"/>
              </a:lnSpc>
            </a:pPr>
            <a:r>
              <a:rPr lang="en-US" sz="2461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Students are limited to three test attempts. Once the test window is closed, reattempts are restricted and can only be granted with teacher approval, ensuring controlled and fair assessment.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76587" y="1823721"/>
            <a:ext cx="3361209" cy="3981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5"/>
              </a:lnSpc>
            </a:pPr>
            <a:r>
              <a:rPr lang="en-US" sz="2825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Subject-Based Exam Revision</a:t>
            </a:r>
          </a:p>
          <a:p>
            <a:pPr algn="ctr">
              <a:lnSpc>
                <a:spcPts val="3395"/>
              </a:lnSpc>
            </a:pPr>
          </a:p>
          <a:p>
            <a:pPr algn="ctr">
              <a:lnSpc>
                <a:spcPts val="3395"/>
              </a:lnSpc>
            </a:pPr>
            <a:r>
              <a:rPr lang="en-US" sz="2425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Displays s</a:t>
            </a:r>
            <a:r>
              <a:rPr lang="en-US" sz="2425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ubject-wise notes when a student selects a subject before an exam, enabling quick and focused preparation.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73960" y="1369767"/>
            <a:ext cx="3680661" cy="7382072"/>
            <a:chOff x="0" y="0"/>
            <a:chExt cx="969392" cy="19442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9392" cy="1944249"/>
            </a:xfrm>
            <a:custGeom>
              <a:avLst/>
              <a:gdLst/>
              <a:ahLst/>
              <a:cxnLst/>
              <a:rect r="r" b="b" t="t" l="l"/>
              <a:pathLst>
                <a:path h="1944249" w="969392">
                  <a:moveTo>
                    <a:pt x="39965" y="0"/>
                  </a:moveTo>
                  <a:lnTo>
                    <a:pt x="929428" y="0"/>
                  </a:lnTo>
                  <a:cubicBezTo>
                    <a:pt x="951499" y="0"/>
                    <a:pt x="969392" y="17893"/>
                    <a:pt x="969392" y="39965"/>
                  </a:cubicBezTo>
                  <a:lnTo>
                    <a:pt x="969392" y="1904285"/>
                  </a:lnTo>
                  <a:cubicBezTo>
                    <a:pt x="969392" y="1914884"/>
                    <a:pt x="965182" y="1925049"/>
                    <a:pt x="957687" y="1932544"/>
                  </a:cubicBezTo>
                  <a:cubicBezTo>
                    <a:pt x="950192" y="1940039"/>
                    <a:pt x="940027" y="1944249"/>
                    <a:pt x="929428" y="1944249"/>
                  </a:cubicBezTo>
                  <a:lnTo>
                    <a:pt x="39965" y="1944249"/>
                  </a:lnTo>
                  <a:cubicBezTo>
                    <a:pt x="17893" y="1944249"/>
                    <a:pt x="0" y="1926357"/>
                    <a:pt x="0" y="1904285"/>
                  </a:cubicBezTo>
                  <a:lnTo>
                    <a:pt x="0" y="39965"/>
                  </a:lnTo>
                  <a:cubicBezTo>
                    <a:pt x="0" y="29365"/>
                    <a:pt x="4211" y="19200"/>
                    <a:pt x="11705" y="11705"/>
                  </a:cubicBezTo>
                  <a:cubicBezTo>
                    <a:pt x="19200" y="4211"/>
                    <a:pt x="29365" y="0"/>
                    <a:pt x="39965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69392" cy="1982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01815" y="1427838"/>
            <a:ext cx="3565097" cy="7324001"/>
            <a:chOff x="0" y="0"/>
            <a:chExt cx="938956" cy="19289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38956" cy="1928955"/>
            </a:xfrm>
            <a:custGeom>
              <a:avLst/>
              <a:gdLst/>
              <a:ahLst/>
              <a:cxnLst/>
              <a:rect r="r" b="b" t="t" l="l"/>
              <a:pathLst>
                <a:path h="1928955" w="938956">
                  <a:moveTo>
                    <a:pt x="41260" y="0"/>
                  </a:moveTo>
                  <a:lnTo>
                    <a:pt x="897695" y="0"/>
                  </a:lnTo>
                  <a:cubicBezTo>
                    <a:pt x="920483" y="0"/>
                    <a:pt x="938956" y="18473"/>
                    <a:pt x="938956" y="41260"/>
                  </a:cubicBezTo>
                  <a:lnTo>
                    <a:pt x="938956" y="1887695"/>
                  </a:lnTo>
                  <a:cubicBezTo>
                    <a:pt x="938956" y="1910482"/>
                    <a:pt x="920483" y="1928955"/>
                    <a:pt x="897695" y="1928955"/>
                  </a:cubicBezTo>
                  <a:lnTo>
                    <a:pt x="41260" y="1928955"/>
                  </a:lnTo>
                  <a:cubicBezTo>
                    <a:pt x="18473" y="1928955"/>
                    <a:pt x="0" y="1910482"/>
                    <a:pt x="0" y="1887695"/>
                  </a:cubicBezTo>
                  <a:lnTo>
                    <a:pt x="0" y="41260"/>
                  </a:lnTo>
                  <a:cubicBezTo>
                    <a:pt x="0" y="18473"/>
                    <a:pt x="18473" y="0"/>
                    <a:pt x="4126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38956" cy="1967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55460" y="1736013"/>
            <a:ext cx="3117661" cy="6295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2828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Secure Onli</a:t>
            </a:r>
            <a:r>
              <a:rPr lang="en-US" sz="2828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ne Test Module</a:t>
            </a:r>
          </a:p>
          <a:p>
            <a:pPr algn="ctr">
              <a:lnSpc>
                <a:spcPts val="3960"/>
              </a:lnSpc>
            </a:pPr>
          </a:p>
          <a:p>
            <a:pPr algn="ctr">
              <a:lnSpc>
                <a:spcPts val="3485"/>
              </a:lnSpc>
            </a:pPr>
            <a:r>
              <a:rPr lang="en-US" sz="2489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system allows teachers to conduct secure online exams with both MCQ and descriptive questions. Tests run in a single-window environment, and any window change helps prevent malpractice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08984" y="1823721"/>
            <a:ext cx="3150760" cy="4410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Group Chat System</a:t>
            </a:r>
          </a:p>
          <a:p>
            <a:pPr algn="ctr">
              <a:lnSpc>
                <a:spcPts val="3920"/>
              </a:lnSpc>
            </a:pP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</a:t>
            </a:r>
            <a:r>
              <a:rPr lang="en-US" sz="2400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 platform provides group chat spaces where students can communicate, clarify doubts, and collaborate with peers in real time.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-647188"/>
            <a:ext cx="8933312" cy="5295017"/>
          </a:xfrm>
          <a:custGeom>
            <a:avLst/>
            <a:gdLst/>
            <a:ahLst/>
            <a:cxnLst/>
            <a:rect r="r" b="b" t="t" l="l"/>
            <a:pathLst>
              <a:path h="5295017" w="8933312">
                <a:moveTo>
                  <a:pt x="0" y="0"/>
                </a:moveTo>
                <a:lnTo>
                  <a:pt x="8933312" y="0"/>
                </a:lnTo>
                <a:lnTo>
                  <a:pt x="8933312" y="5295017"/>
                </a:lnTo>
                <a:lnTo>
                  <a:pt x="0" y="5295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1108435" y="-1685289"/>
            <a:ext cx="8062997" cy="6333118"/>
          </a:xfrm>
          <a:custGeom>
            <a:avLst/>
            <a:gdLst/>
            <a:ahLst/>
            <a:cxnLst/>
            <a:rect r="r" b="b" t="t" l="l"/>
            <a:pathLst>
              <a:path h="6333118" w="8062997">
                <a:moveTo>
                  <a:pt x="8062997" y="0"/>
                </a:moveTo>
                <a:lnTo>
                  <a:pt x="0" y="0"/>
                </a:lnTo>
                <a:lnTo>
                  <a:pt x="0" y="6333118"/>
                </a:lnTo>
                <a:lnTo>
                  <a:pt x="8062997" y="6333118"/>
                </a:lnTo>
                <a:lnTo>
                  <a:pt x="806299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01063" y="9760651"/>
            <a:ext cx="27126150" cy="1947309"/>
          </a:xfrm>
          <a:custGeom>
            <a:avLst/>
            <a:gdLst/>
            <a:ahLst/>
            <a:cxnLst/>
            <a:rect r="r" b="b" t="t" l="l"/>
            <a:pathLst>
              <a:path h="1947309" w="27126150">
                <a:moveTo>
                  <a:pt x="0" y="0"/>
                </a:moveTo>
                <a:lnTo>
                  <a:pt x="27126149" y="0"/>
                </a:lnTo>
                <a:lnTo>
                  <a:pt x="27126149" y="1947309"/>
                </a:lnTo>
                <a:lnTo>
                  <a:pt x="0" y="19473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61423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-381874"/>
            <a:ext cx="16977918" cy="14786223"/>
          </a:xfrm>
          <a:custGeom>
            <a:avLst/>
            <a:gdLst/>
            <a:ahLst/>
            <a:cxnLst/>
            <a:rect r="r" b="b" t="t" l="l"/>
            <a:pathLst>
              <a:path h="14786223" w="16977918">
                <a:moveTo>
                  <a:pt x="0" y="0"/>
                </a:moveTo>
                <a:lnTo>
                  <a:pt x="16977918" y="0"/>
                </a:lnTo>
                <a:lnTo>
                  <a:pt x="16977918" y="14786224"/>
                </a:lnTo>
                <a:lnTo>
                  <a:pt x="0" y="147862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262196" y="1242882"/>
            <a:ext cx="14451696" cy="7754396"/>
            <a:chOff x="0" y="0"/>
            <a:chExt cx="3806208" cy="20423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06208" cy="2042310"/>
            </a:xfrm>
            <a:custGeom>
              <a:avLst/>
              <a:gdLst/>
              <a:ahLst/>
              <a:cxnLst/>
              <a:rect r="r" b="b" t="t" l="l"/>
              <a:pathLst>
                <a:path h="2042310" w="3806208">
                  <a:moveTo>
                    <a:pt x="0" y="0"/>
                  </a:moveTo>
                  <a:lnTo>
                    <a:pt x="3806208" y="0"/>
                  </a:lnTo>
                  <a:lnTo>
                    <a:pt x="3806208" y="2042310"/>
                  </a:lnTo>
                  <a:lnTo>
                    <a:pt x="0" y="204231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806208" cy="2080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7458128" y="4114800"/>
            <a:ext cx="4365429" cy="6172200"/>
          </a:xfrm>
          <a:custGeom>
            <a:avLst/>
            <a:gdLst/>
            <a:ahLst/>
            <a:cxnLst/>
            <a:rect r="r" b="b" t="t" l="l"/>
            <a:pathLst>
              <a:path h="6172200" w="4365429">
                <a:moveTo>
                  <a:pt x="0" y="0"/>
                </a:moveTo>
                <a:lnTo>
                  <a:pt x="4365429" y="0"/>
                </a:lnTo>
                <a:lnTo>
                  <a:pt x="4365429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10" id="10"/>
          <p:cNvGraphicFramePr/>
          <p:nvPr/>
        </p:nvGraphicFramePr>
        <p:xfrm>
          <a:off x="2711437" y="1410033"/>
          <a:ext cx="16230600" cy="7609410"/>
        </p:xfrm>
        <a:graphic>
          <a:graphicData uri="http://schemas.openxmlformats.org/presentationml/2006/ole">
            <p:oleObj imgW="19469100" imgH="10858500" r:id="rId1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7151232" y="405331"/>
            <a:ext cx="4732854" cy="83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Literature review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-647188"/>
            <a:ext cx="8933312" cy="5295017"/>
          </a:xfrm>
          <a:custGeom>
            <a:avLst/>
            <a:gdLst/>
            <a:ahLst/>
            <a:cxnLst/>
            <a:rect r="r" b="b" t="t" l="l"/>
            <a:pathLst>
              <a:path h="5295017" w="8933312">
                <a:moveTo>
                  <a:pt x="0" y="0"/>
                </a:moveTo>
                <a:lnTo>
                  <a:pt x="8933312" y="0"/>
                </a:lnTo>
                <a:lnTo>
                  <a:pt x="8933312" y="5295017"/>
                </a:lnTo>
                <a:lnTo>
                  <a:pt x="0" y="5295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1108435" y="-1685289"/>
            <a:ext cx="8062997" cy="6333118"/>
          </a:xfrm>
          <a:custGeom>
            <a:avLst/>
            <a:gdLst/>
            <a:ahLst/>
            <a:cxnLst/>
            <a:rect r="r" b="b" t="t" l="l"/>
            <a:pathLst>
              <a:path h="6333118" w="8062997">
                <a:moveTo>
                  <a:pt x="8062997" y="0"/>
                </a:moveTo>
                <a:lnTo>
                  <a:pt x="0" y="0"/>
                </a:lnTo>
                <a:lnTo>
                  <a:pt x="0" y="6333118"/>
                </a:lnTo>
                <a:lnTo>
                  <a:pt x="8062997" y="6333118"/>
                </a:lnTo>
                <a:lnTo>
                  <a:pt x="806299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01063" y="9760651"/>
            <a:ext cx="27126150" cy="1947309"/>
          </a:xfrm>
          <a:custGeom>
            <a:avLst/>
            <a:gdLst/>
            <a:ahLst/>
            <a:cxnLst/>
            <a:rect r="r" b="b" t="t" l="l"/>
            <a:pathLst>
              <a:path h="1947309" w="27126150">
                <a:moveTo>
                  <a:pt x="0" y="0"/>
                </a:moveTo>
                <a:lnTo>
                  <a:pt x="27126149" y="0"/>
                </a:lnTo>
                <a:lnTo>
                  <a:pt x="27126149" y="1947309"/>
                </a:lnTo>
                <a:lnTo>
                  <a:pt x="0" y="19473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61423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61211" y="-647188"/>
            <a:ext cx="16724278" cy="14565326"/>
          </a:xfrm>
          <a:custGeom>
            <a:avLst/>
            <a:gdLst/>
            <a:ahLst/>
            <a:cxnLst/>
            <a:rect r="r" b="b" t="t" l="l"/>
            <a:pathLst>
              <a:path h="14565326" w="16724278">
                <a:moveTo>
                  <a:pt x="0" y="0"/>
                </a:moveTo>
                <a:lnTo>
                  <a:pt x="16724278" y="0"/>
                </a:lnTo>
                <a:lnTo>
                  <a:pt x="16724278" y="14565326"/>
                </a:lnTo>
                <a:lnTo>
                  <a:pt x="0" y="145653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12345" y="522675"/>
            <a:ext cx="14217105" cy="7887922"/>
            <a:chOff x="0" y="0"/>
            <a:chExt cx="3744423" cy="20774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44423" cy="2077477"/>
            </a:xfrm>
            <a:custGeom>
              <a:avLst/>
              <a:gdLst/>
              <a:ahLst/>
              <a:cxnLst/>
              <a:rect r="r" b="b" t="t" l="l"/>
              <a:pathLst>
                <a:path h="2077477" w="3744423">
                  <a:moveTo>
                    <a:pt x="0" y="0"/>
                  </a:moveTo>
                  <a:lnTo>
                    <a:pt x="3744423" y="0"/>
                  </a:lnTo>
                  <a:lnTo>
                    <a:pt x="3744423" y="2077477"/>
                  </a:lnTo>
                  <a:lnTo>
                    <a:pt x="0" y="2077477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744423" cy="2115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950636" y="5534025"/>
            <a:ext cx="5220797" cy="5896177"/>
          </a:xfrm>
          <a:custGeom>
            <a:avLst/>
            <a:gdLst/>
            <a:ahLst/>
            <a:cxnLst/>
            <a:rect r="r" b="b" t="t" l="l"/>
            <a:pathLst>
              <a:path h="5896177" w="5220797">
                <a:moveTo>
                  <a:pt x="0" y="0"/>
                </a:moveTo>
                <a:lnTo>
                  <a:pt x="5220796" y="0"/>
                </a:lnTo>
                <a:lnTo>
                  <a:pt x="5220796" y="5896177"/>
                </a:lnTo>
                <a:lnTo>
                  <a:pt x="0" y="589617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6000">
            <a:off x="3259406" y="2383221"/>
            <a:ext cx="10922983" cy="6013318"/>
          </a:xfrm>
          <a:custGeom>
            <a:avLst/>
            <a:gdLst/>
            <a:ahLst/>
            <a:cxnLst/>
            <a:rect r="r" b="b" t="t" l="l"/>
            <a:pathLst>
              <a:path h="6013318" w="10922983">
                <a:moveTo>
                  <a:pt x="0" y="19046"/>
                </a:moveTo>
                <a:lnTo>
                  <a:pt x="10912521" y="0"/>
                </a:lnTo>
                <a:lnTo>
                  <a:pt x="10922983" y="5994272"/>
                </a:lnTo>
                <a:lnTo>
                  <a:pt x="10462" y="6013318"/>
                </a:lnTo>
                <a:lnTo>
                  <a:pt x="0" y="19046"/>
                </a:lnTo>
                <a:close/>
              </a:path>
            </a:pathLst>
          </a:custGeom>
          <a:blipFill>
            <a:blip r:embed="rId12"/>
            <a:stretch>
              <a:fillRect l="-50" t="-41645" r="0" b="-40092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55235" y="1691065"/>
            <a:ext cx="13609029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5950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</a:t>
            </a:r>
            <a:r>
              <a:rPr lang="en-US" sz="2000" b="true">
                <a:solidFill>
                  <a:srgbClr val="5950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is section explores the streamlined workflow of uploading, managing, and accessing notes ensures enhanced academic collaboration.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445338" y="379800"/>
            <a:ext cx="7213164" cy="1292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40"/>
              </a:lnSpc>
            </a:pPr>
            <a:r>
              <a:rPr lang="en-US" sz="7600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System workflow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83300" y="9195775"/>
            <a:ext cx="27126150" cy="1947309"/>
          </a:xfrm>
          <a:custGeom>
            <a:avLst/>
            <a:gdLst/>
            <a:ahLst/>
            <a:cxnLst/>
            <a:rect r="r" b="b" t="t" l="l"/>
            <a:pathLst>
              <a:path h="1947309" w="27126150">
                <a:moveTo>
                  <a:pt x="0" y="0"/>
                </a:moveTo>
                <a:lnTo>
                  <a:pt x="27126150" y="0"/>
                </a:lnTo>
                <a:lnTo>
                  <a:pt x="27126150" y="1947310"/>
                </a:lnTo>
                <a:lnTo>
                  <a:pt x="0" y="1947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6142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54419" y="776767"/>
            <a:ext cx="13503861" cy="8004107"/>
          </a:xfrm>
          <a:custGeom>
            <a:avLst/>
            <a:gdLst/>
            <a:ahLst/>
            <a:cxnLst/>
            <a:rect r="r" b="b" t="t" l="l"/>
            <a:pathLst>
              <a:path h="8004107" w="13503861">
                <a:moveTo>
                  <a:pt x="0" y="0"/>
                </a:moveTo>
                <a:lnTo>
                  <a:pt x="13503861" y="0"/>
                </a:lnTo>
                <a:lnTo>
                  <a:pt x="13503861" y="8004107"/>
                </a:lnTo>
                <a:lnTo>
                  <a:pt x="0" y="80041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79792" y="-1783475"/>
            <a:ext cx="6295964" cy="9258300"/>
          </a:xfrm>
          <a:custGeom>
            <a:avLst/>
            <a:gdLst/>
            <a:ahLst/>
            <a:cxnLst/>
            <a:rect r="r" b="b" t="t" l="l"/>
            <a:pathLst>
              <a:path h="9258300" w="6295964">
                <a:moveTo>
                  <a:pt x="0" y="0"/>
                </a:moveTo>
                <a:lnTo>
                  <a:pt x="6295964" y="0"/>
                </a:lnTo>
                <a:lnTo>
                  <a:pt x="629596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8721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65269" y="-1783475"/>
            <a:ext cx="6295964" cy="9258300"/>
          </a:xfrm>
          <a:custGeom>
            <a:avLst/>
            <a:gdLst/>
            <a:ahLst/>
            <a:cxnLst/>
            <a:rect r="r" b="b" t="t" l="l"/>
            <a:pathLst>
              <a:path h="9258300" w="6295964">
                <a:moveTo>
                  <a:pt x="0" y="0"/>
                </a:moveTo>
                <a:lnTo>
                  <a:pt x="6295964" y="0"/>
                </a:lnTo>
                <a:lnTo>
                  <a:pt x="629596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87218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868336" y="2793513"/>
            <a:ext cx="4156382" cy="5660923"/>
            <a:chOff x="0" y="0"/>
            <a:chExt cx="1094685" cy="14909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4685" cy="1490943"/>
            </a:xfrm>
            <a:custGeom>
              <a:avLst/>
              <a:gdLst/>
              <a:ahLst/>
              <a:cxnLst/>
              <a:rect r="r" b="b" t="t" l="l"/>
              <a:pathLst>
                <a:path h="1490943" w="1094685">
                  <a:moveTo>
                    <a:pt x="35391" y="0"/>
                  </a:moveTo>
                  <a:lnTo>
                    <a:pt x="1059294" y="0"/>
                  </a:lnTo>
                  <a:cubicBezTo>
                    <a:pt x="1078840" y="0"/>
                    <a:pt x="1094685" y="15845"/>
                    <a:pt x="1094685" y="35391"/>
                  </a:cubicBezTo>
                  <a:lnTo>
                    <a:pt x="1094685" y="1455552"/>
                  </a:lnTo>
                  <a:cubicBezTo>
                    <a:pt x="1094685" y="1475098"/>
                    <a:pt x="1078840" y="1490943"/>
                    <a:pt x="1059294" y="1490943"/>
                  </a:cubicBezTo>
                  <a:lnTo>
                    <a:pt x="35391" y="1490943"/>
                  </a:lnTo>
                  <a:cubicBezTo>
                    <a:pt x="15845" y="1490943"/>
                    <a:pt x="0" y="1475098"/>
                    <a:pt x="0" y="1455552"/>
                  </a:cubicBezTo>
                  <a:lnTo>
                    <a:pt x="0" y="35391"/>
                  </a:lnTo>
                  <a:cubicBezTo>
                    <a:pt x="0" y="15845"/>
                    <a:pt x="15845" y="0"/>
                    <a:pt x="35391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4685" cy="1529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946588" y="7474825"/>
            <a:ext cx="4942676" cy="3441900"/>
          </a:xfrm>
          <a:custGeom>
            <a:avLst/>
            <a:gdLst/>
            <a:ahLst/>
            <a:cxnLst/>
            <a:rect r="r" b="b" t="t" l="l"/>
            <a:pathLst>
              <a:path h="3441900" w="4942676">
                <a:moveTo>
                  <a:pt x="0" y="0"/>
                </a:moveTo>
                <a:lnTo>
                  <a:pt x="4942676" y="0"/>
                </a:lnTo>
                <a:lnTo>
                  <a:pt x="4942676" y="3441900"/>
                </a:lnTo>
                <a:lnTo>
                  <a:pt x="0" y="3441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31447" y="6910301"/>
            <a:ext cx="4296691" cy="4570948"/>
          </a:xfrm>
          <a:custGeom>
            <a:avLst/>
            <a:gdLst/>
            <a:ahLst/>
            <a:cxnLst/>
            <a:rect r="r" b="b" t="t" l="l"/>
            <a:pathLst>
              <a:path h="4570948" w="4296691">
                <a:moveTo>
                  <a:pt x="0" y="0"/>
                </a:moveTo>
                <a:lnTo>
                  <a:pt x="4296691" y="0"/>
                </a:lnTo>
                <a:lnTo>
                  <a:pt x="4296691" y="4570948"/>
                </a:lnTo>
                <a:lnTo>
                  <a:pt x="0" y="4570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633393" y="2691387"/>
            <a:ext cx="3945741" cy="5763049"/>
            <a:chOff x="0" y="0"/>
            <a:chExt cx="1039208" cy="1517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9207" cy="1517840"/>
            </a:xfrm>
            <a:custGeom>
              <a:avLst/>
              <a:gdLst/>
              <a:ahLst/>
              <a:cxnLst/>
              <a:rect r="r" b="b" t="t" l="l"/>
              <a:pathLst>
                <a:path h="1517840" w="1039207">
                  <a:moveTo>
                    <a:pt x="37280" y="0"/>
                  </a:moveTo>
                  <a:lnTo>
                    <a:pt x="1001928" y="0"/>
                  </a:lnTo>
                  <a:cubicBezTo>
                    <a:pt x="1022517" y="0"/>
                    <a:pt x="1039207" y="16691"/>
                    <a:pt x="1039207" y="37280"/>
                  </a:cubicBezTo>
                  <a:lnTo>
                    <a:pt x="1039207" y="1480560"/>
                  </a:lnTo>
                  <a:cubicBezTo>
                    <a:pt x="1039207" y="1501149"/>
                    <a:pt x="1022517" y="1517840"/>
                    <a:pt x="1001928" y="1517840"/>
                  </a:cubicBezTo>
                  <a:lnTo>
                    <a:pt x="37280" y="1517840"/>
                  </a:lnTo>
                  <a:cubicBezTo>
                    <a:pt x="16691" y="1517840"/>
                    <a:pt x="0" y="1501149"/>
                    <a:pt x="0" y="1480560"/>
                  </a:cubicBezTo>
                  <a:lnTo>
                    <a:pt x="0" y="37280"/>
                  </a:lnTo>
                  <a:cubicBezTo>
                    <a:pt x="0" y="16691"/>
                    <a:pt x="16691" y="0"/>
                    <a:pt x="3728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39208" cy="1555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319359" y="2845675"/>
            <a:ext cx="4041875" cy="5608761"/>
            <a:chOff x="0" y="0"/>
            <a:chExt cx="1064527" cy="14772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4527" cy="1477204"/>
            </a:xfrm>
            <a:custGeom>
              <a:avLst/>
              <a:gdLst/>
              <a:ahLst/>
              <a:cxnLst/>
              <a:rect r="r" b="b" t="t" l="l"/>
              <a:pathLst>
                <a:path h="1477204" w="1064527">
                  <a:moveTo>
                    <a:pt x="36393" y="0"/>
                  </a:moveTo>
                  <a:lnTo>
                    <a:pt x="1028134" y="0"/>
                  </a:lnTo>
                  <a:cubicBezTo>
                    <a:pt x="1037786" y="0"/>
                    <a:pt x="1047042" y="3834"/>
                    <a:pt x="1053867" y="10659"/>
                  </a:cubicBezTo>
                  <a:cubicBezTo>
                    <a:pt x="1060692" y="17484"/>
                    <a:pt x="1064527" y="26741"/>
                    <a:pt x="1064527" y="36393"/>
                  </a:cubicBezTo>
                  <a:lnTo>
                    <a:pt x="1064527" y="1440811"/>
                  </a:lnTo>
                  <a:cubicBezTo>
                    <a:pt x="1064527" y="1460911"/>
                    <a:pt x="1048233" y="1477204"/>
                    <a:pt x="1028134" y="1477204"/>
                  </a:cubicBezTo>
                  <a:lnTo>
                    <a:pt x="36393" y="1477204"/>
                  </a:lnTo>
                  <a:cubicBezTo>
                    <a:pt x="16294" y="1477204"/>
                    <a:pt x="0" y="1460911"/>
                    <a:pt x="0" y="1440811"/>
                  </a:cubicBezTo>
                  <a:lnTo>
                    <a:pt x="0" y="36393"/>
                  </a:lnTo>
                  <a:cubicBezTo>
                    <a:pt x="0" y="16294"/>
                    <a:pt x="16294" y="0"/>
                    <a:pt x="36393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64527" cy="1515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87002" y="1181100"/>
            <a:ext cx="17205432" cy="795639"/>
            <a:chOff x="0" y="0"/>
            <a:chExt cx="4531472" cy="2095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31472" cy="209551"/>
            </a:xfrm>
            <a:custGeom>
              <a:avLst/>
              <a:gdLst/>
              <a:ahLst/>
              <a:cxnLst/>
              <a:rect r="r" b="b" t="t" l="l"/>
              <a:pathLst>
                <a:path h="209551" w="4531472">
                  <a:moveTo>
                    <a:pt x="0" y="0"/>
                  </a:moveTo>
                  <a:lnTo>
                    <a:pt x="4531472" y="0"/>
                  </a:lnTo>
                  <a:lnTo>
                    <a:pt x="4531472" y="209551"/>
                  </a:lnTo>
                  <a:lnTo>
                    <a:pt x="0" y="2095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531472" cy="247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831447" y="-114300"/>
            <a:ext cx="14078392" cy="102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1"/>
              </a:lnSpc>
            </a:pPr>
            <a:r>
              <a:rPr lang="en-US" sz="6029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Essential Technologies for Our Platform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98269" y="3371771"/>
            <a:ext cx="3301954" cy="443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State Management</a:t>
            </a:r>
          </a:p>
          <a:p>
            <a:pPr algn="ctr">
              <a:lnSpc>
                <a:spcPts val="3445"/>
              </a:lnSpc>
            </a:pPr>
          </a:p>
          <a:p>
            <a:pPr algn="ctr">
              <a:lnSpc>
                <a:spcPts val="3445"/>
              </a:lnSpc>
            </a:pPr>
            <a:r>
              <a:rPr lang="en-US" sz="2461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Redux is implemented for efficient state management, allowing users to maintain consistent data across the application effortlessly.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154419" y="3338982"/>
            <a:ext cx="3117661" cy="4104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2828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Fro</a:t>
            </a:r>
            <a:r>
              <a:rPr lang="en-US" sz="2828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ntend Framework</a:t>
            </a:r>
          </a:p>
          <a:p>
            <a:pPr algn="ctr">
              <a:lnSpc>
                <a:spcPts val="3960"/>
              </a:lnSpc>
            </a:pPr>
          </a:p>
          <a:p>
            <a:pPr algn="ctr">
              <a:lnSpc>
                <a:spcPts val="3485"/>
              </a:lnSpc>
            </a:pPr>
            <a:r>
              <a:rPr lang="en-US" sz="2489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</a:t>
            </a:r>
            <a:r>
              <a:rPr lang="en-US" sz="2489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 utilize ReactJS to create a dynamic and responsive user interface, ensuring a seamless experience for all users.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67793" y="3338982"/>
            <a:ext cx="3150760" cy="4410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Backend Technologies</a:t>
            </a:r>
          </a:p>
          <a:p>
            <a:pPr algn="ctr">
              <a:lnSpc>
                <a:spcPts val="3920"/>
              </a:lnSpc>
            </a:pP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</a:t>
            </a:r>
            <a:r>
              <a:rPr lang="en-US" sz="2400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lask (Python) handles APIs and logic, MongoDB stores user and exam data, and AWS Cloud Storage securely manages documents.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3506" y="1133475"/>
            <a:ext cx="15960987" cy="84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5"/>
              </a:lnSpc>
            </a:pPr>
            <a:r>
              <a:rPr lang="en-US" sz="2425" b="true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This sec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tion explores the key technolog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th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 power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u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 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loud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-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ba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se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note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sh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ari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a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nd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managem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ent 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lat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form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for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nh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an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acad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emic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ll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bo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ration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.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83300" y="9195775"/>
            <a:ext cx="27126150" cy="1947309"/>
          </a:xfrm>
          <a:custGeom>
            <a:avLst/>
            <a:gdLst/>
            <a:ahLst/>
            <a:cxnLst/>
            <a:rect r="r" b="b" t="t" l="l"/>
            <a:pathLst>
              <a:path h="1947309" w="27126150">
                <a:moveTo>
                  <a:pt x="0" y="0"/>
                </a:moveTo>
                <a:lnTo>
                  <a:pt x="27126150" y="0"/>
                </a:lnTo>
                <a:lnTo>
                  <a:pt x="27126150" y="1947310"/>
                </a:lnTo>
                <a:lnTo>
                  <a:pt x="0" y="1947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6142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54419" y="776767"/>
            <a:ext cx="13503861" cy="8004107"/>
          </a:xfrm>
          <a:custGeom>
            <a:avLst/>
            <a:gdLst/>
            <a:ahLst/>
            <a:cxnLst/>
            <a:rect r="r" b="b" t="t" l="l"/>
            <a:pathLst>
              <a:path h="8004107" w="13503861">
                <a:moveTo>
                  <a:pt x="0" y="0"/>
                </a:moveTo>
                <a:lnTo>
                  <a:pt x="13503861" y="0"/>
                </a:lnTo>
                <a:lnTo>
                  <a:pt x="13503861" y="8004107"/>
                </a:lnTo>
                <a:lnTo>
                  <a:pt x="0" y="80041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79792" y="-1783475"/>
            <a:ext cx="6295964" cy="9258300"/>
          </a:xfrm>
          <a:custGeom>
            <a:avLst/>
            <a:gdLst/>
            <a:ahLst/>
            <a:cxnLst/>
            <a:rect r="r" b="b" t="t" l="l"/>
            <a:pathLst>
              <a:path h="9258300" w="6295964">
                <a:moveTo>
                  <a:pt x="0" y="0"/>
                </a:moveTo>
                <a:lnTo>
                  <a:pt x="6295964" y="0"/>
                </a:lnTo>
                <a:lnTo>
                  <a:pt x="629596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8721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65269" y="-1783475"/>
            <a:ext cx="6295964" cy="9258300"/>
          </a:xfrm>
          <a:custGeom>
            <a:avLst/>
            <a:gdLst/>
            <a:ahLst/>
            <a:cxnLst/>
            <a:rect r="r" b="b" t="t" l="l"/>
            <a:pathLst>
              <a:path h="9258300" w="6295964">
                <a:moveTo>
                  <a:pt x="0" y="0"/>
                </a:moveTo>
                <a:lnTo>
                  <a:pt x="6295964" y="0"/>
                </a:lnTo>
                <a:lnTo>
                  <a:pt x="629596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87218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868336" y="2793513"/>
            <a:ext cx="4156382" cy="5660923"/>
            <a:chOff x="0" y="0"/>
            <a:chExt cx="1094685" cy="14909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4685" cy="1490943"/>
            </a:xfrm>
            <a:custGeom>
              <a:avLst/>
              <a:gdLst/>
              <a:ahLst/>
              <a:cxnLst/>
              <a:rect r="r" b="b" t="t" l="l"/>
              <a:pathLst>
                <a:path h="1490943" w="1094685">
                  <a:moveTo>
                    <a:pt x="35391" y="0"/>
                  </a:moveTo>
                  <a:lnTo>
                    <a:pt x="1059294" y="0"/>
                  </a:lnTo>
                  <a:cubicBezTo>
                    <a:pt x="1078840" y="0"/>
                    <a:pt x="1094685" y="15845"/>
                    <a:pt x="1094685" y="35391"/>
                  </a:cubicBezTo>
                  <a:lnTo>
                    <a:pt x="1094685" y="1455552"/>
                  </a:lnTo>
                  <a:cubicBezTo>
                    <a:pt x="1094685" y="1475098"/>
                    <a:pt x="1078840" y="1490943"/>
                    <a:pt x="1059294" y="1490943"/>
                  </a:cubicBezTo>
                  <a:lnTo>
                    <a:pt x="35391" y="1490943"/>
                  </a:lnTo>
                  <a:cubicBezTo>
                    <a:pt x="15845" y="1490943"/>
                    <a:pt x="0" y="1475098"/>
                    <a:pt x="0" y="1455552"/>
                  </a:cubicBezTo>
                  <a:lnTo>
                    <a:pt x="0" y="35391"/>
                  </a:lnTo>
                  <a:cubicBezTo>
                    <a:pt x="0" y="15845"/>
                    <a:pt x="15845" y="0"/>
                    <a:pt x="35391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4685" cy="1529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946588" y="7474825"/>
            <a:ext cx="4942676" cy="3441900"/>
          </a:xfrm>
          <a:custGeom>
            <a:avLst/>
            <a:gdLst/>
            <a:ahLst/>
            <a:cxnLst/>
            <a:rect r="r" b="b" t="t" l="l"/>
            <a:pathLst>
              <a:path h="3441900" w="4942676">
                <a:moveTo>
                  <a:pt x="0" y="0"/>
                </a:moveTo>
                <a:lnTo>
                  <a:pt x="4942676" y="0"/>
                </a:lnTo>
                <a:lnTo>
                  <a:pt x="4942676" y="3441900"/>
                </a:lnTo>
                <a:lnTo>
                  <a:pt x="0" y="3441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31447" y="6910301"/>
            <a:ext cx="4296691" cy="4570948"/>
          </a:xfrm>
          <a:custGeom>
            <a:avLst/>
            <a:gdLst/>
            <a:ahLst/>
            <a:cxnLst/>
            <a:rect r="r" b="b" t="t" l="l"/>
            <a:pathLst>
              <a:path h="4570948" w="4296691">
                <a:moveTo>
                  <a:pt x="0" y="0"/>
                </a:moveTo>
                <a:lnTo>
                  <a:pt x="4296691" y="0"/>
                </a:lnTo>
                <a:lnTo>
                  <a:pt x="4296691" y="4570948"/>
                </a:lnTo>
                <a:lnTo>
                  <a:pt x="0" y="4570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633393" y="2691387"/>
            <a:ext cx="3945741" cy="5763049"/>
            <a:chOff x="0" y="0"/>
            <a:chExt cx="1039208" cy="1517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9207" cy="1517840"/>
            </a:xfrm>
            <a:custGeom>
              <a:avLst/>
              <a:gdLst/>
              <a:ahLst/>
              <a:cxnLst/>
              <a:rect r="r" b="b" t="t" l="l"/>
              <a:pathLst>
                <a:path h="1517840" w="1039207">
                  <a:moveTo>
                    <a:pt x="37280" y="0"/>
                  </a:moveTo>
                  <a:lnTo>
                    <a:pt x="1001928" y="0"/>
                  </a:lnTo>
                  <a:cubicBezTo>
                    <a:pt x="1022517" y="0"/>
                    <a:pt x="1039207" y="16691"/>
                    <a:pt x="1039207" y="37280"/>
                  </a:cubicBezTo>
                  <a:lnTo>
                    <a:pt x="1039207" y="1480560"/>
                  </a:lnTo>
                  <a:cubicBezTo>
                    <a:pt x="1039207" y="1501149"/>
                    <a:pt x="1022517" y="1517840"/>
                    <a:pt x="1001928" y="1517840"/>
                  </a:cubicBezTo>
                  <a:lnTo>
                    <a:pt x="37280" y="1517840"/>
                  </a:lnTo>
                  <a:cubicBezTo>
                    <a:pt x="16691" y="1517840"/>
                    <a:pt x="0" y="1501149"/>
                    <a:pt x="0" y="1480560"/>
                  </a:cubicBezTo>
                  <a:lnTo>
                    <a:pt x="0" y="37280"/>
                  </a:lnTo>
                  <a:cubicBezTo>
                    <a:pt x="0" y="16691"/>
                    <a:pt x="16691" y="0"/>
                    <a:pt x="3728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39208" cy="1555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319359" y="2845675"/>
            <a:ext cx="4041875" cy="5608761"/>
            <a:chOff x="0" y="0"/>
            <a:chExt cx="1064527" cy="14772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4527" cy="1477204"/>
            </a:xfrm>
            <a:custGeom>
              <a:avLst/>
              <a:gdLst/>
              <a:ahLst/>
              <a:cxnLst/>
              <a:rect r="r" b="b" t="t" l="l"/>
              <a:pathLst>
                <a:path h="1477204" w="1064527">
                  <a:moveTo>
                    <a:pt x="36393" y="0"/>
                  </a:moveTo>
                  <a:lnTo>
                    <a:pt x="1028134" y="0"/>
                  </a:lnTo>
                  <a:cubicBezTo>
                    <a:pt x="1037786" y="0"/>
                    <a:pt x="1047042" y="3834"/>
                    <a:pt x="1053867" y="10659"/>
                  </a:cubicBezTo>
                  <a:cubicBezTo>
                    <a:pt x="1060692" y="17484"/>
                    <a:pt x="1064527" y="26741"/>
                    <a:pt x="1064527" y="36393"/>
                  </a:cubicBezTo>
                  <a:lnTo>
                    <a:pt x="1064527" y="1440811"/>
                  </a:lnTo>
                  <a:cubicBezTo>
                    <a:pt x="1064527" y="1460911"/>
                    <a:pt x="1048233" y="1477204"/>
                    <a:pt x="1028134" y="1477204"/>
                  </a:cubicBezTo>
                  <a:lnTo>
                    <a:pt x="36393" y="1477204"/>
                  </a:lnTo>
                  <a:cubicBezTo>
                    <a:pt x="16294" y="1477204"/>
                    <a:pt x="0" y="1460911"/>
                    <a:pt x="0" y="1440811"/>
                  </a:cubicBezTo>
                  <a:lnTo>
                    <a:pt x="0" y="36393"/>
                  </a:lnTo>
                  <a:cubicBezTo>
                    <a:pt x="0" y="16294"/>
                    <a:pt x="16294" y="0"/>
                    <a:pt x="36393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64527" cy="1515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87002" y="1181100"/>
            <a:ext cx="17205432" cy="795639"/>
            <a:chOff x="0" y="0"/>
            <a:chExt cx="4531472" cy="2095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31472" cy="209551"/>
            </a:xfrm>
            <a:custGeom>
              <a:avLst/>
              <a:gdLst/>
              <a:ahLst/>
              <a:cxnLst/>
              <a:rect r="r" b="b" t="t" l="l"/>
              <a:pathLst>
                <a:path h="209551" w="4531472">
                  <a:moveTo>
                    <a:pt x="0" y="0"/>
                  </a:moveTo>
                  <a:lnTo>
                    <a:pt x="4531472" y="0"/>
                  </a:lnTo>
                  <a:lnTo>
                    <a:pt x="4531472" y="209551"/>
                  </a:lnTo>
                  <a:lnTo>
                    <a:pt x="0" y="2095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531472" cy="247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831447" y="-114300"/>
            <a:ext cx="14078392" cy="102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1"/>
              </a:lnSpc>
            </a:pPr>
            <a:r>
              <a:rPr lang="en-US" sz="6029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Essential Technologies for Our Platform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00420" y="3125707"/>
            <a:ext cx="3611859" cy="4866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Online Examination Control</a:t>
            </a:r>
          </a:p>
          <a:p>
            <a:pPr algn="ctr">
              <a:lnSpc>
                <a:spcPts val="3445"/>
              </a:lnSpc>
            </a:pPr>
          </a:p>
          <a:p>
            <a:pPr algn="ctr">
              <a:lnSpc>
                <a:spcPts val="3445"/>
              </a:lnSpc>
            </a:pPr>
            <a:r>
              <a:rPr lang="en-US" sz="2461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Secure online exams run in a single-window mode with a maximum of three attempts. The system detects window switching and uses backend validation to prevent malpractice.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47433" y="3073296"/>
            <a:ext cx="3117661" cy="4980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2828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</a:t>
            </a:r>
            <a:r>
              <a:rPr lang="en-US" sz="2828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eal-Time Communication</a:t>
            </a:r>
          </a:p>
          <a:p>
            <a:pPr algn="ctr">
              <a:lnSpc>
                <a:spcPts val="3960"/>
              </a:lnSpc>
            </a:pPr>
          </a:p>
          <a:p>
            <a:pPr algn="ctr">
              <a:lnSpc>
                <a:spcPts val="3485"/>
              </a:lnSpc>
            </a:pPr>
            <a:r>
              <a:rPr lang="en-US" sz="2489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Gro</a:t>
            </a:r>
            <a:r>
              <a:rPr lang="en-US" sz="2489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up chat and live updates are powered by Firebase Realtime Database, enabling instant message synchronization among students.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01118" y="3073296"/>
            <a:ext cx="3150760" cy="4829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Authentication &amp; Access Security</a:t>
            </a:r>
          </a:p>
          <a:p>
            <a:pPr algn="ctr">
              <a:lnSpc>
                <a:spcPts val="3920"/>
              </a:lnSpc>
            </a:pP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Ro</a:t>
            </a:r>
            <a:r>
              <a:rPr lang="en-US" sz="2400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le-based authentication and access control ensure that only authorized students and teachers can access exams and protected features.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3506" y="1133475"/>
            <a:ext cx="15960987" cy="84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5"/>
              </a:lnSpc>
            </a:pPr>
            <a:r>
              <a:rPr lang="en-US" sz="2425" b="true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This sec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tion explores the key technolog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th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 power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u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 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loud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-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ba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se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note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sh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ari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a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nd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managem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ent 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lat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form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for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nh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an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acad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emic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ll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bo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ration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.</a:t>
            </a:r>
            <a:r>
              <a:rPr lang="en-US" b="true" sz="2425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83300" y="9195775"/>
            <a:ext cx="27126150" cy="1947309"/>
          </a:xfrm>
          <a:custGeom>
            <a:avLst/>
            <a:gdLst/>
            <a:ahLst/>
            <a:cxnLst/>
            <a:rect r="r" b="b" t="t" l="l"/>
            <a:pathLst>
              <a:path h="1947309" w="27126150">
                <a:moveTo>
                  <a:pt x="0" y="0"/>
                </a:moveTo>
                <a:lnTo>
                  <a:pt x="27126150" y="0"/>
                </a:lnTo>
                <a:lnTo>
                  <a:pt x="27126150" y="1947310"/>
                </a:lnTo>
                <a:lnTo>
                  <a:pt x="0" y="1947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6142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54419" y="776767"/>
            <a:ext cx="13503861" cy="8004107"/>
          </a:xfrm>
          <a:custGeom>
            <a:avLst/>
            <a:gdLst/>
            <a:ahLst/>
            <a:cxnLst/>
            <a:rect r="r" b="b" t="t" l="l"/>
            <a:pathLst>
              <a:path h="8004107" w="13503861">
                <a:moveTo>
                  <a:pt x="0" y="0"/>
                </a:moveTo>
                <a:lnTo>
                  <a:pt x="13503861" y="0"/>
                </a:lnTo>
                <a:lnTo>
                  <a:pt x="13503861" y="8004107"/>
                </a:lnTo>
                <a:lnTo>
                  <a:pt x="0" y="80041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83811" y="-1323835"/>
            <a:ext cx="6295964" cy="9258300"/>
          </a:xfrm>
          <a:custGeom>
            <a:avLst/>
            <a:gdLst/>
            <a:ahLst/>
            <a:cxnLst/>
            <a:rect r="r" b="b" t="t" l="l"/>
            <a:pathLst>
              <a:path h="9258300" w="6295964">
                <a:moveTo>
                  <a:pt x="0" y="0"/>
                </a:moveTo>
                <a:lnTo>
                  <a:pt x="6295964" y="0"/>
                </a:lnTo>
                <a:lnTo>
                  <a:pt x="629596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8721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13175" y="-1323835"/>
            <a:ext cx="6295964" cy="9258300"/>
          </a:xfrm>
          <a:custGeom>
            <a:avLst/>
            <a:gdLst/>
            <a:ahLst/>
            <a:cxnLst/>
            <a:rect r="r" b="b" t="t" l="l"/>
            <a:pathLst>
              <a:path h="9258300" w="6295964">
                <a:moveTo>
                  <a:pt x="0" y="0"/>
                </a:moveTo>
                <a:lnTo>
                  <a:pt x="6295964" y="0"/>
                </a:lnTo>
                <a:lnTo>
                  <a:pt x="629596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87218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032956" y="2615361"/>
            <a:ext cx="3647544" cy="6350148"/>
            <a:chOff x="0" y="0"/>
            <a:chExt cx="960670" cy="1672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0670" cy="1672467"/>
            </a:xfrm>
            <a:custGeom>
              <a:avLst/>
              <a:gdLst/>
              <a:ahLst/>
              <a:cxnLst/>
              <a:rect r="r" b="b" t="t" l="l"/>
              <a:pathLst>
                <a:path h="1672467" w="960670">
                  <a:moveTo>
                    <a:pt x="40328" y="0"/>
                  </a:moveTo>
                  <a:lnTo>
                    <a:pt x="920342" y="0"/>
                  </a:lnTo>
                  <a:cubicBezTo>
                    <a:pt x="931038" y="0"/>
                    <a:pt x="941296" y="4249"/>
                    <a:pt x="948858" y="11812"/>
                  </a:cubicBezTo>
                  <a:cubicBezTo>
                    <a:pt x="956421" y="19375"/>
                    <a:pt x="960670" y="29632"/>
                    <a:pt x="960670" y="40328"/>
                  </a:cubicBezTo>
                  <a:lnTo>
                    <a:pt x="960670" y="1632139"/>
                  </a:lnTo>
                  <a:cubicBezTo>
                    <a:pt x="960670" y="1642835"/>
                    <a:pt x="956421" y="1653092"/>
                    <a:pt x="948858" y="1660655"/>
                  </a:cubicBezTo>
                  <a:cubicBezTo>
                    <a:pt x="941296" y="1668218"/>
                    <a:pt x="931038" y="1672467"/>
                    <a:pt x="920342" y="1672467"/>
                  </a:cubicBezTo>
                  <a:lnTo>
                    <a:pt x="40328" y="1672467"/>
                  </a:lnTo>
                  <a:cubicBezTo>
                    <a:pt x="18055" y="1672467"/>
                    <a:pt x="0" y="1654412"/>
                    <a:pt x="0" y="1632139"/>
                  </a:cubicBezTo>
                  <a:lnTo>
                    <a:pt x="0" y="40328"/>
                  </a:lnTo>
                  <a:cubicBezTo>
                    <a:pt x="0" y="29632"/>
                    <a:pt x="4249" y="19375"/>
                    <a:pt x="11812" y="11812"/>
                  </a:cubicBezTo>
                  <a:cubicBezTo>
                    <a:pt x="19375" y="4249"/>
                    <a:pt x="29632" y="0"/>
                    <a:pt x="40328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60670" cy="1710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843212" y="2615361"/>
            <a:ext cx="3838943" cy="6350148"/>
            <a:chOff x="0" y="0"/>
            <a:chExt cx="1011080" cy="16724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1080" cy="1672467"/>
            </a:xfrm>
            <a:custGeom>
              <a:avLst/>
              <a:gdLst/>
              <a:ahLst/>
              <a:cxnLst/>
              <a:rect r="r" b="b" t="t" l="l"/>
              <a:pathLst>
                <a:path h="1672467" w="1011080">
                  <a:moveTo>
                    <a:pt x="38317" y="0"/>
                  </a:moveTo>
                  <a:lnTo>
                    <a:pt x="972763" y="0"/>
                  </a:lnTo>
                  <a:cubicBezTo>
                    <a:pt x="993925" y="0"/>
                    <a:pt x="1011080" y="17155"/>
                    <a:pt x="1011080" y="38317"/>
                  </a:cubicBezTo>
                  <a:lnTo>
                    <a:pt x="1011080" y="1634150"/>
                  </a:lnTo>
                  <a:cubicBezTo>
                    <a:pt x="1011080" y="1655312"/>
                    <a:pt x="993925" y="1672467"/>
                    <a:pt x="972763" y="1672467"/>
                  </a:cubicBezTo>
                  <a:lnTo>
                    <a:pt x="38317" y="1672467"/>
                  </a:lnTo>
                  <a:cubicBezTo>
                    <a:pt x="17155" y="1672467"/>
                    <a:pt x="0" y="1655312"/>
                    <a:pt x="0" y="1634150"/>
                  </a:cubicBezTo>
                  <a:lnTo>
                    <a:pt x="0" y="38317"/>
                  </a:lnTo>
                  <a:cubicBezTo>
                    <a:pt x="0" y="17155"/>
                    <a:pt x="17155" y="0"/>
                    <a:pt x="38317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11080" cy="1710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186942" y="8448480"/>
            <a:ext cx="4942676" cy="3441900"/>
          </a:xfrm>
          <a:custGeom>
            <a:avLst/>
            <a:gdLst/>
            <a:ahLst/>
            <a:cxnLst/>
            <a:rect r="r" b="b" t="t" l="l"/>
            <a:pathLst>
              <a:path h="3441900" w="4942676">
                <a:moveTo>
                  <a:pt x="0" y="0"/>
                </a:moveTo>
                <a:lnTo>
                  <a:pt x="4942676" y="0"/>
                </a:lnTo>
                <a:lnTo>
                  <a:pt x="4942676" y="3441900"/>
                </a:lnTo>
                <a:lnTo>
                  <a:pt x="0" y="3441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831447" y="6910301"/>
            <a:ext cx="4296691" cy="4570948"/>
          </a:xfrm>
          <a:custGeom>
            <a:avLst/>
            <a:gdLst/>
            <a:ahLst/>
            <a:cxnLst/>
            <a:rect r="r" b="b" t="t" l="l"/>
            <a:pathLst>
              <a:path h="4570948" w="4296691">
                <a:moveTo>
                  <a:pt x="0" y="0"/>
                </a:moveTo>
                <a:lnTo>
                  <a:pt x="4296691" y="0"/>
                </a:lnTo>
                <a:lnTo>
                  <a:pt x="4296691" y="4570948"/>
                </a:lnTo>
                <a:lnTo>
                  <a:pt x="0" y="4570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771375" y="2615361"/>
            <a:ext cx="3585306" cy="6350148"/>
            <a:chOff x="0" y="0"/>
            <a:chExt cx="944278" cy="16724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4278" cy="1672467"/>
            </a:xfrm>
            <a:custGeom>
              <a:avLst/>
              <a:gdLst/>
              <a:ahLst/>
              <a:cxnLst/>
              <a:rect r="r" b="b" t="t" l="l"/>
              <a:pathLst>
                <a:path h="1672467" w="944278">
                  <a:moveTo>
                    <a:pt x="41028" y="0"/>
                  </a:moveTo>
                  <a:lnTo>
                    <a:pt x="903250" y="0"/>
                  </a:lnTo>
                  <a:cubicBezTo>
                    <a:pt x="925909" y="0"/>
                    <a:pt x="944278" y="18369"/>
                    <a:pt x="944278" y="41028"/>
                  </a:cubicBezTo>
                  <a:lnTo>
                    <a:pt x="944278" y="1631439"/>
                  </a:lnTo>
                  <a:cubicBezTo>
                    <a:pt x="944278" y="1654098"/>
                    <a:pt x="925909" y="1672467"/>
                    <a:pt x="903250" y="1672467"/>
                  </a:cubicBezTo>
                  <a:lnTo>
                    <a:pt x="41028" y="1672467"/>
                  </a:lnTo>
                  <a:cubicBezTo>
                    <a:pt x="18369" y="1672467"/>
                    <a:pt x="0" y="1654098"/>
                    <a:pt x="0" y="1631439"/>
                  </a:cubicBezTo>
                  <a:lnTo>
                    <a:pt x="0" y="41028"/>
                  </a:lnTo>
                  <a:cubicBezTo>
                    <a:pt x="0" y="18369"/>
                    <a:pt x="18369" y="0"/>
                    <a:pt x="41028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44278" cy="1710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54190" y="2615361"/>
            <a:ext cx="3565097" cy="6350148"/>
            <a:chOff x="0" y="0"/>
            <a:chExt cx="938956" cy="16724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8956" cy="1672467"/>
            </a:xfrm>
            <a:custGeom>
              <a:avLst/>
              <a:gdLst/>
              <a:ahLst/>
              <a:cxnLst/>
              <a:rect r="r" b="b" t="t" l="l"/>
              <a:pathLst>
                <a:path h="1672467" w="938956">
                  <a:moveTo>
                    <a:pt x="41260" y="0"/>
                  </a:moveTo>
                  <a:lnTo>
                    <a:pt x="897695" y="0"/>
                  </a:lnTo>
                  <a:cubicBezTo>
                    <a:pt x="920483" y="0"/>
                    <a:pt x="938956" y="18473"/>
                    <a:pt x="938956" y="41260"/>
                  </a:cubicBezTo>
                  <a:lnTo>
                    <a:pt x="938956" y="1631207"/>
                  </a:lnTo>
                  <a:cubicBezTo>
                    <a:pt x="938956" y="1653994"/>
                    <a:pt x="920483" y="1672467"/>
                    <a:pt x="897695" y="1672467"/>
                  </a:cubicBezTo>
                  <a:lnTo>
                    <a:pt x="41260" y="1672467"/>
                  </a:lnTo>
                  <a:cubicBezTo>
                    <a:pt x="18473" y="1672467"/>
                    <a:pt x="0" y="1653994"/>
                    <a:pt x="0" y="1631207"/>
                  </a:cubicBezTo>
                  <a:lnTo>
                    <a:pt x="0" y="41260"/>
                  </a:lnTo>
                  <a:cubicBezTo>
                    <a:pt x="0" y="18473"/>
                    <a:pt x="18473" y="0"/>
                    <a:pt x="4126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38956" cy="1710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5541" y="913650"/>
            <a:ext cx="18056919" cy="911135"/>
            <a:chOff x="0" y="0"/>
            <a:chExt cx="4755732" cy="2399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55732" cy="239970"/>
            </a:xfrm>
            <a:custGeom>
              <a:avLst/>
              <a:gdLst/>
              <a:ahLst/>
              <a:cxnLst/>
              <a:rect r="r" b="b" t="t" l="l"/>
              <a:pathLst>
                <a:path h="239970" w="4755732">
                  <a:moveTo>
                    <a:pt x="0" y="0"/>
                  </a:moveTo>
                  <a:lnTo>
                    <a:pt x="4755732" y="0"/>
                  </a:lnTo>
                  <a:lnTo>
                    <a:pt x="4755732" y="239970"/>
                  </a:lnTo>
                  <a:lnTo>
                    <a:pt x="0" y="23997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755732" cy="27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722405" y="-114300"/>
            <a:ext cx="11187434" cy="102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1"/>
              </a:lnSpc>
            </a:pPr>
            <a:r>
              <a:rPr lang="en-US" sz="6029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Conclusion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28311" y="2862254"/>
            <a:ext cx="3301954" cy="5371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5"/>
              </a:lnSpc>
            </a:pPr>
            <a:r>
              <a:rPr lang="en-US" sz="2861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Projected Knowledge Sharing</a:t>
            </a:r>
          </a:p>
          <a:p>
            <a:pPr algn="ctr">
              <a:lnSpc>
                <a:spcPts val="3445"/>
              </a:lnSpc>
            </a:pPr>
          </a:p>
          <a:p>
            <a:pPr algn="ctr">
              <a:lnSpc>
                <a:spcPts val="3445"/>
              </a:lnSpc>
            </a:pPr>
            <a:r>
              <a:rPr lang="en-US" sz="2461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It is expected that centralizing study materials will make knowledge sharing easier among students, providing equal access once the platform is built.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082079" y="2914671"/>
            <a:ext cx="3361209" cy="5695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5"/>
              </a:lnSpc>
            </a:pPr>
            <a:r>
              <a:rPr lang="en-US" sz="2825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Opportunities for Skill Development</a:t>
            </a:r>
          </a:p>
          <a:p>
            <a:pPr algn="l">
              <a:lnSpc>
                <a:spcPts val="3395"/>
              </a:lnSpc>
            </a:pPr>
          </a:p>
          <a:p>
            <a:pPr algn="ctr">
              <a:lnSpc>
                <a:spcPts val="3395"/>
              </a:lnSpc>
            </a:pPr>
            <a:r>
              <a:rPr lang="en-US" sz="2425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</a:t>
            </a:r>
            <a:r>
              <a:rPr lang="en-US" sz="2425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 ongoing development is giving team members chances to learn and apply skills in web technologies, especially React.js and Firebase, which will contribute to personal growth.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1370" y="2914671"/>
            <a:ext cx="3117661" cy="4980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2828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Fosters</a:t>
            </a:r>
            <a:r>
              <a:rPr lang="en-US" sz="2828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collaboration</a:t>
            </a:r>
          </a:p>
          <a:p>
            <a:pPr algn="ctr">
              <a:lnSpc>
                <a:spcPts val="3960"/>
              </a:lnSpc>
            </a:pPr>
          </a:p>
          <a:p>
            <a:pPr algn="ctr">
              <a:lnSpc>
                <a:spcPts val="3485"/>
              </a:lnSpc>
            </a:pPr>
            <a:r>
              <a:rPr lang="en-US" sz="2489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platform is intended to encourage students to collaborate by sharing their academic notes and resources as the project progresses</a:t>
            </a:r>
            <a:r>
              <a:rPr lang="en-US" sz="2489" b="true">
                <a:solidFill>
                  <a:srgbClr val="524835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61359" y="2914671"/>
            <a:ext cx="3150760" cy="5325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Potential for Improved Accessibility</a:t>
            </a:r>
          </a:p>
          <a:p>
            <a:pPr algn="ctr">
              <a:lnSpc>
                <a:spcPts val="3920"/>
              </a:lnSpc>
            </a:pP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compl</a:t>
            </a:r>
            <a:r>
              <a:rPr lang="en-US" sz="2400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eted application aims to simplify how students find and use notes, making academic resources more accessible and organized in future.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0" y="971550"/>
            <a:ext cx="18288000" cy="852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5"/>
              </a:lnSpc>
              <a:spcBef>
                <a:spcPct val="0"/>
              </a:spcBef>
            </a:pPr>
            <a:r>
              <a:rPr lang="en-US" sz="2446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Devel</a:t>
            </a:r>
            <a:r>
              <a:rPr lang="en-US" sz="2446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oping an academic notes sharing platform is expected to foster collaboration, improve knowledge sharing, and help students succeed.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83300" y="9195775"/>
            <a:ext cx="27126150" cy="1947309"/>
          </a:xfrm>
          <a:custGeom>
            <a:avLst/>
            <a:gdLst/>
            <a:ahLst/>
            <a:cxnLst/>
            <a:rect r="r" b="b" t="t" l="l"/>
            <a:pathLst>
              <a:path h="1947309" w="27126150">
                <a:moveTo>
                  <a:pt x="0" y="0"/>
                </a:moveTo>
                <a:lnTo>
                  <a:pt x="27126150" y="0"/>
                </a:lnTo>
                <a:lnTo>
                  <a:pt x="27126150" y="1947310"/>
                </a:lnTo>
                <a:lnTo>
                  <a:pt x="0" y="1947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6142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54419" y="776767"/>
            <a:ext cx="13503861" cy="8004107"/>
          </a:xfrm>
          <a:custGeom>
            <a:avLst/>
            <a:gdLst/>
            <a:ahLst/>
            <a:cxnLst/>
            <a:rect r="r" b="b" t="t" l="l"/>
            <a:pathLst>
              <a:path h="8004107" w="13503861">
                <a:moveTo>
                  <a:pt x="0" y="0"/>
                </a:moveTo>
                <a:lnTo>
                  <a:pt x="13503861" y="0"/>
                </a:lnTo>
                <a:lnTo>
                  <a:pt x="13503861" y="8004107"/>
                </a:lnTo>
                <a:lnTo>
                  <a:pt x="0" y="80041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83811" y="-1323835"/>
            <a:ext cx="6295964" cy="9258300"/>
          </a:xfrm>
          <a:custGeom>
            <a:avLst/>
            <a:gdLst/>
            <a:ahLst/>
            <a:cxnLst/>
            <a:rect r="r" b="b" t="t" l="l"/>
            <a:pathLst>
              <a:path h="9258300" w="6295964">
                <a:moveTo>
                  <a:pt x="0" y="0"/>
                </a:moveTo>
                <a:lnTo>
                  <a:pt x="6295964" y="0"/>
                </a:lnTo>
                <a:lnTo>
                  <a:pt x="629596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8721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13175" y="-1323835"/>
            <a:ext cx="6295964" cy="9258300"/>
          </a:xfrm>
          <a:custGeom>
            <a:avLst/>
            <a:gdLst/>
            <a:ahLst/>
            <a:cxnLst/>
            <a:rect r="r" b="b" t="t" l="l"/>
            <a:pathLst>
              <a:path h="9258300" w="6295964">
                <a:moveTo>
                  <a:pt x="0" y="0"/>
                </a:moveTo>
                <a:lnTo>
                  <a:pt x="6295964" y="0"/>
                </a:lnTo>
                <a:lnTo>
                  <a:pt x="629596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87218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032956" y="2615361"/>
            <a:ext cx="3647544" cy="6350148"/>
            <a:chOff x="0" y="0"/>
            <a:chExt cx="960670" cy="1672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0670" cy="1672467"/>
            </a:xfrm>
            <a:custGeom>
              <a:avLst/>
              <a:gdLst/>
              <a:ahLst/>
              <a:cxnLst/>
              <a:rect r="r" b="b" t="t" l="l"/>
              <a:pathLst>
                <a:path h="1672467" w="960670">
                  <a:moveTo>
                    <a:pt x="40328" y="0"/>
                  </a:moveTo>
                  <a:lnTo>
                    <a:pt x="920342" y="0"/>
                  </a:lnTo>
                  <a:cubicBezTo>
                    <a:pt x="931038" y="0"/>
                    <a:pt x="941296" y="4249"/>
                    <a:pt x="948858" y="11812"/>
                  </a:cubicBezTo>
                  <a:cubicBezTo>
                    <a:pt x="956421" y="19375"/>
                    <a:pt x="960670" y="29632"/>
                    <a:pt x="960670" y="40328"/>
                  </a:cubicBezTo>
                  <a:lnTo>
                    <a:pt x="960670" y="1632139"/>
                  </a:lnTo>
                  <a:cubicBezTo>
                    <a:pt x="960670" y="1642835"/>
                    <a:pt x="956421" y="1653092"/>
                    <a:pt x="948858" y="1660655"/>
                  </a:cubicBezTo>
                  <a:cubicBezTo>
                    <a:pt x="941296" y="1668218"/>
                    <a:pt x="931038" y="1672467"/>
                    <a:pt x="920342" y="1672467"/>
                  </a:cubicBezTo>
                  <a:lnTo>
                    <a:pt x="40328" y="1672467"/>
                  </a:lnTo>
                  <a:cubicBezTo>
                    <a:pt x="18055" y="1672467"/>
                    <a:pt x="0" y="1654412"/>
                    <a:pt x="0" y="1632139"/>
                  </a:cubicBezTo>
                  <a:lnTo>
                    <a:pt x="0" y="40328"/>
                  </a:lnTo>
                  <a:cubicBezTo>
                    <a:pt x="0" y="29632"/>
                    <a:pt x="4249" y="19375"/>
                    <a:pt x="11812" y="11812"/>
                  </a:cubicBezTo>
                  <a:cubicBezTo>
                    <a:pt x="19375" y="4249"/>
                    <a:pt x="29632" y="0"/>
                    <a:pt x="40328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60670" cy="1710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843212" y="2615361"/>
            <a:ext cx="3838943" cy="6350148"/>
            <a:chOff x="0" y="0"/>
            <a:chExt cx="1011080" cy="16724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1080" cy="1672467"/>
            </a:xfrm>
            <a:custGeom>
              <a:avLst/>
              <a:gdLst/>
              <a:ahLst/>
              <a:cxnLst/>
              <a:rect r="r" b="b" t="t" l="l"/>
              <a:pathLst>
                <a:path h="1672467" w="1011080">
                  <a:moveTo>
                    <a:pt x="38317" y="0"/>
                  </a:moveTo>
                  <a:lnTo>
                    <a:pt x="972763" y="0"/>
                  </a:lnTo>
                  <a:cubicBezTo>
                    <a:pt x="993925" y="0"/>
                    <a:pt x="1011080" y="17155"/>
                    <a:pt x="1011080" y="38317"/>
                  </a:cubicBezTo>
                  <a:lnTo>
                    <a:pt x="1011080" y="1634150"/>
                  </a:lnTo>
                  <a:cubicBezTo>
                    <a:pt x="1011080" y="1655312"/>
                    <a:pt x="993925" y="1672467"/>
                    <a:pt x="972763" y="1672467"/>
                  </a:cubicBezTo>
                  <a:lnTo>
                    <a:pt x="38317" y="1672467"/>
                  </a:lnTo>
                  <a:cubicBezTo>
                    <a:pt x="17155" y="1672467"/>
                    <a:pt x="0" y="1655312"/>
                    <a:pt x="0" y="1634150"/>
                  </a:cubicBezTo>
                  <a:lnTo>
                    <a:pt x="0" y="38317"/>
                  </a:lnTo>
                  <a:cubicBezTo>
                    <a:pt x="0" y="17155"/>
                    <a:pt x="17155" y="0"/>
                    <a:pt x="38317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11080" cy="1710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831447" y="6910301"/>
            <a:ext cx="4296691" cy="4570948"/>
          </a:xfrm>
          <a:custGeom>
            <a:avLst/>
            <a:gdLst/>
            <a:ahLst/>
            <a:cxnLst/>
            <a:rect r="r" b="b" t="t" l="l"/>
            <a:pathLst>
              <a:path h="4570948" w="4296691">
                <a:moveTo>
                  <a:pt x="0" y="0"/>
                </a:moveTo>
                <a:lnTo>
                  <a:pt x="4296691" y="0"/>
                </a:lnTo>
                <a:lnTo>
                  <a:pt x="4296691" y="4570948"/>
                </a:lnTo>
                <a:lnTo>
                  <a:pt x="0" y="45709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771375" y="2615361"/>
            <a:ext cx="3585306" cy="6350148"/>
            <a:chOff x="0" y="0"/>
            <a:chExt cx="944278" cy="16724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4278" cy="1672467"/>
            </a:xfrm>
            <a:custGeom>
              <a:avLst/>
              <a:gdLst/>
              <a:ahLst/>
              <a:cxnLst/>
              <a:rect r="r" b="b" t="t" l="l"/>
              <a:pathLst>
                <a:path h="1672467" w="944278">
                  <a:moveTo>
                    <a:pt x="41028" y="0"/>
                  </a:moveTo>
                  <a:lnTo>
                    <a:pt x="903250" y="0"/>
                  </a:lnTo>
                  <a:cubicBezTo>
                    <a:pt x="925909" y="0"/>
                    <a:pt x="944278" y="18369"/>
                    <a:pt x="944278" y="41028"/>
                  </a:cubicBezTo>
                  <a:lnTo>
                    <a:pt x="944278" y="1631439"/>
                  </a:lnTo>
                  <a:cubicBezTo>
                    <a:pt x="944278" y="1654098"/>
                    <a:pt x="925909" y="1672467"/>
                    <a:pt x="903250" y="1672467"/>
                  </a:cubicBezTo>
                  <a:lnTo>
                    <a:pt x="41028" y="1672467"/>
                  </a:lnTo>
                  <a:cubicBezTo>
                    <a:pt x="18369" y="1672467"/>
                    <a:pt x="0" y="1654098"/>
                    <a:pt x="0" y="1631439"/>
                  </a:cubicBezTo>
                  <a:lnTo>
                    <a:pt x="0" y="41028"/>
                  </a:lnTo>
                  <a:cubicBezTo>
                    <a:pt x="0" y="18369"/>
                    <a:pt x="18369" y="0"/>
                    <a:pt x="41028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44278" cy="1710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54190" y="2615361"/>
            <a:ext cx="3565097" cy="6350148"/>
            <a:chOff x="0" y="0"/>
            <a:chExt cx="938956" cy="16724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38956" cy="1672467"/>
            </a:xfrm>
            <a:custGeom>
              <a:avLst/>
              <a:gdLst/>
              <a:ahLst/>
              <a:cxnLst/>
              <a:rect r="r" b="b" t="t" l="l"/>
              <a:pathLst>
                <a:path h="1672467" w="938956">
                  <a:moveTo>
                    <a:pt x="41260" y="0"/>
                  </a:moveTo>
                  <a:lnTo>
                    <a:pt x="897695" y="0"/>
                  </a:lnTo>
                  <a:cubicBezTo>
                    <a:pt x="920483" y="0"/>
                    <a:pt x="938956" y="18473"/>
                    <a:pt x="938956" y="41260"/>
                  </a:cubicBezTo>
                  <a:lnTo>
                    <a:pt x="938956" y="1631207"/>
                  </a:lnTo>
                  <a:cubicBezTo>
                    <a:pt x="938956" y="1653994"/>
                    <a:pt x="920483" y="1672467"/>
                    <a:pt x="897695" y="1672467"/>
                  </a:cubicBezTo>
                  <a:lnTo>
                    <a:pt x="41260" y="1672467"/>
                  </a:lnTo>
                  <a:cubicBezTo>
                    <a:pt x="18473" y="1672467"/>
                    <a:pt x="0" y="1653994"/>
                    <a:pt x="0" y="1631207"/>
                  </a:cubicBezTo>
                  <a:lnTo>
                    <a:pt x="0" y="41260"/>
                  </a:lnTo>
                  <a:cubicBezTo>
                    <a:pt x="0" y="18473"/>
                    <a:pt x="18473" y="0"/>
                    <a:pt x="4126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38956" cy="1710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5541" y="913650"/>
            <a:ext cx="18056919" cy="911135"/>
            <a:chOff x="0" y="0"/>
            <a:chExt cx="4755732" cy="2399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755732" cy="239970"/>
            </a:xfrm>
            <a:custGeom>
              <a:avLst/>
              <a:gdLst/>
              <a:ahLst/>
              <a:cxnLst/>
              <a:rect r="r" b="b" t="t" l="l"/>
              <a:pathLst>
                <a:path h="239970" w="4755732">
                  <a:moveTo>
                    <a:pt x="0" y="0"/>
                  </a:moveTo>
                  <a:lnTo>
                    <a:pt x="4755732" y="0"/>
                  </a:lnTo>
                  <a:lnTo>
                    <a:pt x="4755732" y="239970"/>
                  </a:lnTo>
                  <a:lnTo>
                    <a:pt x="0" y="23997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755732" cy="27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722405" y="-114300"/>
            <a:ext cx="11187434" cy="102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1"/>
              </a:lnSpc>
            </a:pPr>
            <a:r>
              <a:rPr lang="en-US" sz="6029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Conclusion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28311" y="2871779"/>
            <a:ext cx="3301954" cy="4709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sz="2461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Improved Student Interaction</a:t>
            </a:r>
          </a:p>
          <a:p>
            <a:pPr algn="ctr">
              <a:lnSpc>
                <a:spcPts val="3445"/>
              </a:lnSpc>
            </a:pPr>
          </a:p>
          <a:p>
            <a:pPr algn="ctr">
              <a:lnSpc>
                <a:spcPts val="3445"/>
              </a:lnSpc>
            </a:pPr>
            <a:r>
              <a:rPr lang="en-US" sz="2461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Group chat functionality enables students to communicate, share ideas, and collaborate effectively in an academic environment.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28962" y="2704640"/>
            <a:ext cx="3361209" cy="5695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5"/>
              </a:lnSpc>
            </a:pPr>
            <a:r>
              <a:rPr lang="en-US" sz="2825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Secure and Controlled Access</a:t>
            </a:r>
          </a:p>
          <a:p>
            <a:pPr algn="ctr">
              <a:lnSpc>
                <a:spcPts val="3395"/>
              </a:lnSpc>
            </a:pPr>
          </a:p>
          <a:p>
            <a:pPr algn="ctr">
              <a:lnSpc>
                <a:spcPts val="3395"/>
              </a:lnSpc>
            </a:pPr>
            <a:r>
              <a:rPr lang="en-US" sz="2425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</a:t>
            </a:r>
            <a:r>
              <a:rPr lang="en-US" sz="2425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 platform ensures security through role-based authentication, controlled exam access, and teacher-managed permissions, preventing unauthorized usage and maintaining data integrity.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1370" y="2914671"/>
            <a:ext cx="3117661" cy="5914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2828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Enhanced</a:t>
            </a:r>
            <a:r>
              <a:rPr lang="en-US" sz="2828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Academic Evaluation</a:t>
            </a:r>
          </a:p>
          <a:p>
            <a:pPr algn="ctr">
              <a:lnSpc>
                <a:spcPts val="3960"/>
              </a:lnSpc>
            </a:pPr>
          </a:p>
          <a:p>
            <a:pPr algn="ctr">
              <a:lnSpc>
                <a:spcPts val="3485"/>
              </a:lnSpc>
            </a:pPr>
            <a:r>
              <a:rPr lang="en-US" sz="2489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</a:t>
            </a:r>
            <a:r>
              <a:rPr lang="en-US" sz="2489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ecure online MCQ and descriptive exams are conducted in a single-window mode with a maximum of three attempts, ensuring fairness and exam integrity</a:t>
            </a:r>
            <a:r>
              <a:rPr lang="en-US" sz="2489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61359" y="2914671"/>
            <a:ext cx="3150760" cy="475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Comprehensive Learning Platform</a:t>
            </a:r>
          </a:p>
          <a:p>
            <a:pPr algn="ctr">
              <a:lnSpc>
                <a:spcPts val="3360"/>
              </a:lnSpc>
            </a:pP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pl</a:t>
            </a:r>
            <a:r>
              <a:rPr lang="en-US" sz="2400">
                <a:solidFill>
                  <a:srgbClr val="524835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atform integrates secure exams, subject-wise revision, centralized storage, and real-time communication for effective academic management.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0" y="971550"/>
            <a:ext cx="18288000" cy="852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5"/>
              </a:lnSpc>
              <a:spcBef>
                <a:spcPct val="0"/>
              </a:spcBef>
            </a:pPr>
            <a:r>
              <a:rPr lang="en-US" sz="2446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Devel</a:t>
            </a:r>
            <a:r>
              <a:rPr lang="en-US" sz="2446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oping an academic notes sharing platform is expected to foster collaboration, improve knowledge sharing, and help students succeed.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4207309" y="7343466"/>
            <a:ext cx="4942676" cy="3441900"/>
          </a:xfrm>
          <a:custGeom>
            <a:avLst/>
            <a:gdLst/>
            <a:ahLst/>
            <a:cxnLst/>
            <a:rect r="r" b="b" t="t" l="l"/>
            <a:pathLst>
              <a:path h="3441900" w="4942676">
                <a:moveTo>
                  <a:pt x="0" y="0"/>
                </a:moveTo>
                <a:lnTo>
                  <a:pt x="4942676" y="0"/>
                </a:lnTo>
                <a:lnTo>
                  <a:pt x="4942676" y="3441900"/>
                </a:lnTo>
                <a:lnTo>
                  <a:pt x="0" y="3441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9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-647188"/>
            <a:ext cx="8933312" cy="5295017"/>
          </a:xfrm>
          <a:custGeom>
            <a:avLst/>
            <a:gdLst/>
            <a:ahLst/>
            <a:cxnLst/>
            <a:rect r="r" b="b" t="t" l="l"/>
            <a:pathLst>
              <a:path h="5295017" w="8933312">
                <a:moveTo>
                  <a:pt x="0" y="0"/>
                </a:moveTo>
                <a:lnTo>
                  <a:pt x="8933312" y="0"/>
                </a:lnTo>
                <a:lnTo>
                  <a:pt x="8933312" y="5295017"/>
                </a:lnTo>
                <a:lnTo>
                  <a:pt x="0" y="5295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1108435" y="-1685289"/>
            <a:ext cx="8062997" cy="6333118"/>
          </a:xfrm>
          <a:custGeom>
            <a:avLst/>
            <a:gdLst/>
            <a:ahLst/>
            <a:cxnLst/>
            <a:rect r="r" b="b" t="t" l="l"/>
            <a:pathLst>
              <a:path h="6333118" w="8062997">
                <a:moveTo>
                  <a:pt x="8062997" y="0"/>
                </a:moveTo>
                <a:lnTo>
                  <a:pt x="0" y="0"/>
                </a:lnTo>
                <a:lnTo>
                  <a:pt x="0" y="6333118"/>
                </a:lnTo>
                <a:lnTo>
                  <a:pt x="8062997" y="6333118"/>
                </a:lnTo>
                <a:lnTo>
                  <a:pt x="806299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01063" y="9760651"/>
            <a:ext cx="27126150" cy="1947309"/>
          </a:xfrm>
          <a:custGeom>
            <a:avLst/>
            <a:gdLst/>
            <a:ahLst/>
            <a:cxnLst/>
            <a:rect r="r" b="b" t="t" l="l"/>
            <a:pathLst>
              <a:path h="1947309" w="27126150">
                <a:moveTo>
                  <a:pt x="0" y="0"/>
                </a:moveTo>
                <a:lnTo>
                  <a:pt x="27126149" y="0"/>
                </a:lnTo>
                <a:lnTo>
                  <a:pt x="27126149" y="1947309"/>
                </a:lnTo>
                <a:lnTo>
                  <a:pt x="0" y="19473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61423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89962" y="-312927"/>
            <a:ext cx="13802688" cy="12020887"/>
          </a:xfrm>
          <a:custGeom>
            <a:avLst/>
            <a:gdLst/>
            <a:ahLst/>
            <a:cxnLst/>
            <a:rect r="r" b="b" t="t" l="l"/>
            <a:pathLst>
              <a:path h="12020887" w="13802688">
                <a:moveTo>
                  <a:pt x="0" y="0"/>
                </a:moveTo>
                <a:lnTo>
                  <a:pt x="13802688" y="0"/>
                </a:lnTo>
                <a:lnTo>
                  <a:pt x="13802688" y="12020887"/>
                </a:lnTo>
                <a:lnTo>
                  <a:pt x="0" y="120208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87950" y="738970"/>
            <a:ext cx="11972452" cy="7205733"/>
            <a:chOff x="0" y="0"/>
            <a:chExt cx="3153238" cy="18978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53238" cy="1897806"/>
            </a:xfrm>
            <a:custGeom>
              <a:avLst/>
              <a:gdLst/>
              <a:ahLst/>
              <a:cxnLst/>
              <a:rect r="r" b="b" t="t" l="l"/>
              <a:pathLst>
                <a:path h="1897806" w="3153238">
                  <a:moveTo>
                    <a:pt x="0" y="0"/>
                  </a:moveTo>
                  <a:lnTo>
                    <a:pt x="3153238" y="0"/>
                  </a:lnTo>
                  <a:lnTo>
                    <a:pt x="3153238" y="1897806"/>
                  </a:lnTo>
                  <a:lnTo>
                    <a:pt x="0" y="1897806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9503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53238" cy="1935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5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740816" y="1734451"/>
            <a:ext cx="11819586" cy="63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397" indent="-214198" lvl="1">
              <a:lnSpc>
                <a:spcPts val="2777"/>
              </a:lnSpc>
              <a:buAutoNum type="arabicPeriod" startAt="1"/>
            </a:pPr>
            <a:r>
              <a:rPr lang="en-US" b="true" sz="1984">
                <a:solidFill>
                  <a:srgbClr val="5950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INSCRIBE –</a:t>
            </a:r>
            <a:r>
              <a:rPr lang="en-US" b="true" sz="1984">
                <a:solidFill>
                  <a:srgbClr val="5950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College Notes Sharing ApplicationP. Jaiswal, R. Wadnerkar, S. Hanfi, Prof. Yamini Barge; IJRASET, Nov 2021A platform for seamless college notes sharing, organized by course, with peer ratings to improve collaboration.</a:t>
            </a:r>
          </a:p>
          <a:p>
            <a:pPr algn="l" marL="428397" indent="-214198" lvl="1">
              <a:lnSpc>
                <a:spcPts val="2777"/>
              </a:lnSpc>
              <a:buAutoNum type="arabicPeriod" startAt="1"/>
            </a:pPr>
            <a:r>
              <a:rPr lang="en-US" b="true" sz="1984">
                <a:solidFill>
                  <a:srgbClr val="5950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Online Notes Sharing - A. Venkatesan &amp; S. Nageshwaran; IJRAMT, Apr 2022Web/mobile solution for sharing, categorizing, and rating notes to help standardize academic resources. </a:t>
            </a:r>
          </a:p>
          <a:p>
            <a:pPr algn="l" marL="428397" indent="-214198" lvl="1">
              <a:lnSpc>
                <a:spcPts val="2777"/>
              </a:lnSpc>
              <a:buAutoNum type="arabicPeriod" startAt="1"/>
            </a:pPr>
            <a:r>
              <a:rPr lang="en-US" b="true" sz="1984">
                <a:solidFill>
                  <a:srgbClr val="5950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 Reputation Ranking Method based on Rating Patterns and Rating Deviation - Zhou, Sun &amp; Liu; IEEE DSIT, 2022Introduces RPRD for accurately ranking users based on rating patterns to reduce spam in sharing systems.</a:t>
            </a:r>
          </a:p>
          <a:p>
            <a:pPr algn="l" marL="428397" indent="-214198" lvl="1">
              <a:lnSpc>
                <a:spcPts val="2777"/>
              </a:lnSpc>
              <a:buAutoNum type="arabicPeriod" startAt="1"/>
            </a:pPr>
            <a:r>
              <a:rPr lang="en-US" b="true" sz="1984">
                <a:solidFill>
                  <a:srgbClr val="5950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Use of Discussion Forums in Online Learning Environments - Kilinc &amp; Altınpulluk; 2021Analyzes how discussion forums promote engagement and knowledge sharing in online education.</a:t>
            </a:r>
          </a:p>
          <a:p>
            <a:pPr algn="l" marL="428397" indent="-214198" lvl="1">
              <a:lnSpc>
                <a:spcPts val="2777"/>
              </a:lnSpc>
              <a:buAutoNum type="arabicPeriod" startAt="1"/>
            </a:pPr>
            <a:r>
              <a:rPr lang="en-US" b="true" sz="1984">
                <a:solidFill>
                  <a:srgbClr val="5950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ContextFree FAQ Detection Using Machine Learning - F. Razzaghi, H. Minaee &amp; A. Ghorbani; IEEE/WIC/ACM WI, 2016Proposes a machine learning approach for identifying FAQs and supporting digital learning platforms.</a:t>
            </a:r>
          </a:p>
          <a:p>
            <a:pPr algn="l" marL="428397" indent="-214198" lvl="1">
              <a:lnSpc>
                <a:spcPts val="2777"/>
              </a:lnSpc>
              <a:buAutoNum type="arabicPeriod" startAt="1"/>
            </a:pPr>
            <a:r>
              <a:rPr lang="en-US" b="true" sz="1984">
                <a:solidFill>
                  <a:srgbClr val="5950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Use of Firebase in Web Applications -B. M. Mehta, N. Madhani, and R. Patwardhan, Firebase’s features and It talks about benefits </a:t>
            </a:r>
          </a:p>
          <a:p>
            <a:pPr algn="l" marL="428397" indent="-214198" lvl="1">
              <a:lnSpc>
                <a:spcPts val="2777"/>
              </a:lnSpc>
              <a:buAutoNum type="arabicPeriod" startAt="1"/>
            </a:pPr>
            <a:r>
              <a:rPr lang="en-US" b="true" sz="1984">
                <a:solidFill>
                  <a:srgbClr val="59503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(rapid development, realtime sync, scalability) and limitations (security, cost, vendor lock‑in).</a:t>
            </a:r>
          </a:p>
          <a:p>
            <a:pPr algn="ctr">
              <a:lnSpc>
                <a:spcPts val="2777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639811" y="4562105"/>
            <a:ext cx="4365429" cy="6172200"/>
          </a:xfrm>
          <a:custGeom>
            <a:avLst/>
            <a:gdLst/>
            <a:ahLst/>
            <a:cxnLst/>
            <a:rect r="r" b="b" t="t" l="l"/>
            <a:pathLst>
              <a:path h="6172200" w="4365429">
                <a:moveTo>
                  <a:pt x="0" y="0"/>
                </a:moveTo>
                <a:lnTo>
                  <a:pt x="4365429" y="0"/>
                </a:lnTo>
                <a:lnTo>
                  <a:pt x="4365429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53772" y="624670"/>
            <a:ext cx="3937397" cy="1085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0"/>
              </a:lnSpc>
            </a:pPr>
            <a:r>
              <a:rPr lang="en-US" sz="6400">
                <a:solidFill>
                  <a:srgbClr val="59503F"/>
                </a:solidFill>
                <a:latin typeface="Lucky Bones"/>
                <a:ea typeface="Lucky Bones"/>
                <a:cs typeface="Lucky Bones"/>
                <a:sym typeface="Lucky Bones"/>
              </a:rPr>
              <a:t>References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1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1348472"/>
            <a:ext cx="9569050" cy="8692535"/>
          </a:xfrm>
          <a:custGeom>
            <a:avLst/>
            <a:gdLst/>
            <a:ahLst/>
            <a:cxnLst/>
            <a:rect r="r" b="b" t="t" l="l"/>
            <a:pathLst>
              <a:path h="8692535" w="9569050">
                <a:moveTo>
                  <a:pt x="0" y="0"/>
                </a:moveTo>
                <a:lnTo>
                  <a:pt x="9569050" y="0"/>
                </a:lnTo>
                <a:lnTo>
                  <a:pt x="9569050" y="8692535"/>
                </a:lnTo>
                <a:lnTo>
                  <a:pt x="0" y="86925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69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949591" y="6119330"/>
            <a:ext cx="28154850" cy="6009992"/>
          </a:xfrm>
          <a:custGeom>
            <a:avLst/>
            <a:gdLst/>
            <a:ahLst/>
            <a:cxnLst/>
            <a:rect r="r" b="b" t="t" l="l"/>
            <a:pathLst>
              <a:path h="6009992" w="28154850">
                <a:moveTo>
                  <a:pt x="0" y="0"/>
                </a:moveTo>
                <a:lnTo>
                  <a:pt x="28154850" y="0"/>
                </a:lnTo>
                <a:lnTo>
                  <a:pt x="28154850" y="6009992"/>
                </a:lnTo>
                <a:lnTo>
                  <a:pt x="0" y="60099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14019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56421" y="1200774"/>
            <a:ext cx="10093379" cy="7885453"/>
          </a:xfrm>
          <a:custGeom>
            <a:avLst/>
            <a:gdLst/>
            <a:ahLst/>
            <a:cxnLst/>
            <a:rect r="r" b="b" t="t" l="l"/>
            <a:pathLst>
              <a:path h="7885453" w="10093379">
                <a:moveTo>
                  <a:pt x="0" y="0"/>
                </a:moveTo>
                <a:lnTo>
                  <a:pt x="10093379" y="0"/>
                </a:lnTo>
                <a:lnTo>
                  <a:pt x="10093379" y="7885452"/>
                </a:lnTo>
                <a:lnTo>
                  <a:pt x="0" y="7885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-703345"/>
            <a:ext cx="7416778" cy="4396127"/>
          </a:xfrm>
          <a:custGeom>
            <a:avLst/>
            <a:gdLst/>
            <a:ahLst/>
            <a:cxnLst/>
            <a:rect r="r" b="b" t="t" l="l"/>
            <a:pathLst>
              <a:path h="4396127" w="7416778">
                <a:moveTo>
                  <a:pt x="0" y="0"/>
                </a:moveTo>
                <a:lnTo>
                  <a:pt x="7416778" y="0"/>
                </a:lnTo>
                <a:lnTo>
                  <a:pt x="7416778" y="4396127"/>
                </a:lnTo>
                <a:lnTo>
                  <a:pt x="0" y="43961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389373">
            <a:off x="10740330" y="2188772"/>
            <a:ext cx="6164092" cy="3486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59"/>
              </a:lnSpc>
            </a:pPr>
            <a:r>
              <a:rPr lang="en-US" sz="7569" spc="416">
                <a:solidFill>
                  <a:srgbClr val="F9F1E2"/>
                </a:solidFill>
                <a:latin typeface="Lucky Bones"/>
                <a:ea typeface="Lucky Bones"/>
                <a:cs typeface="Lucky Bones"/>
                <a:sym typeface="Lucky Bones"/>
              </a:rPr>
              <a:t>THANK YOU FOR YOUR ATTENTION!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173069" y="1494719"/>
            <a:ext cx="4403538" cy="6226082"/>
          </a:xfrm>
          <a:custGeom>
            <a:avLst/>
            <a:gdLst/>
            <a:ahLst/>
            <a:cxnLst/>
            <a:rect r="r" b="b" t="t" l="l"/>
            <a:pathLst>
              <a:path h="6226082" w="4403538">
                <a:moveTo>
                  <a:pt x="0" y="0"/>
                </a:moveTo>
                <a:lnTo>
                  <a:pt x="4403538" y="0"/>
                </a:lnTo>
                <a:lnTo>
                  <a:pt x="4403538" y="6226081"/>
                </a:lnTo>
                <a:lnTo>
                  <a:pt x="0" y="6226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6622" y="6603194"/>
            <a:ext cx="5489881" cy="2655106"/>
          </a:xfrm>
          <a:custGeom>
            <a:avLst/>
            <a:gdLst/>
            <a:ahLst/>
            <a:cxnLst/>
            <a:rect r="r" b="b" t="t" l="l"/>
            <a:pathLst>
              <a:path h="2655106" w="5489881">
                <a:moveTo>
                  <a:pt x="0" y="0"/>
                </a:moveTo>
                <a:lnTo>
                  <a:pt x="5489881" y="0"/>
                </a:lnTo>
                <a:lnTo>
                  <a:pt x="5489881" y="2655106"/>
                </a:lnTo>
                <a:lnTo>
                  <a:pt x="0" y="26551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DAHBC78XYbI</dc:identifier>
  <dcterms:modified xsi:type="dcterms:W3CDTF">2011-08-01T06:04:30Z</dcterms:modified>
  <cp:revision>1</cp:revision>
  <dc:title>Cloud-Based Note Sharing Platform</dc:title>
</cp:coreProperties>
</file>